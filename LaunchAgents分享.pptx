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ef3d940e5944e0" /><Relationship Type="http://schemas.openxmlformats.org/officeDocument/2006/relationships/extended-properties" Target="/docProps/app.xml" Id="Ra44a779ac8724fac" /><Relationship Type="http://schemas.openxmlformats.org/officeDocument/2006/relationships/officeDocument" Target="/ppt/presentation.xml" Id="Re844ed2f8d4b4f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daeaad0ea84f4a"/>
  </p:sldMasterIdLst>
  <p:notesMasterIdLst>
    <p:notesMasterId xmlns:r="http://schemas.openxmlformats.org/officeDocument/2006/relationships" r:id="R077b2b875bc74633"/>
  </p:notesMasterIdLst>
  <p:sldIdLst>
    <p:sldId xmlns:r="http://schemas.openxmlformats.org/officeDocument/2006/relationships" id="256" r:id="Rc9f661276d684b9a"/>
    <p:sldId xmlns:r="http://schemas.openxmlformats.org/officeDocument/2006/relationships" id="257" r:id="R80becdb267d64719"/>
    <p:sldId xmlns:r="http://schemas.openxmlformats.org/officeDocument/2006/relationships" id="258" r:id="R496ddb90c27f4a61"/>
    <p:sldId xmlns:r="http://schemas.openxmlformats.org/officeDocument/2006/relationships" id="259" r:id="Reb432600087b4da4"/>
    <p:sldId xmlns:r="http://schemas.openxmlformats.org/officeDocument/2006/relationships" id="260" r:id="R1c95de2cdfb44911"/>
    <p:sldId xmlns:r="http://schemas.openxmlformats.org/officeDocument/2006/relationships" id="261" r:id="R98a4908b7b584b73"/>
    <p:sldId xmlns:r="http://schemas.openxmlformats.org/officeDocument/2006/relationships" id="262" r:id="R9558c1ff493d4e57"/>
    <p:sldId xmlns:r="http://schemas.openxmlformats.org/officeDocument/2006/relationships" id="263" r:id="R4c3acb9968db4530"/>
    <p:sldId xmlns:r="http://schemas.openxmlformats.org/officeDocument/2006/relationships" id="264" r:id="R469ef0e295f74106"/>
    <p:sldId xmlns:r="http://schemas.openxmlformats.org/officeDocument/2006/relationships" id="265" r:id="R18c0d3728a8743b4"/>
    <p:sldId xmlns:r="http://schemas.openxmlformats.org/officeDocument/2006/relationships" id="266" r:id="Radd4e9434cd94147"/>
    <p:sldId xmlns:r="http://schemas.openxmlformats.org/officeDocument/2006/relationships" id="267" r:id="R5824efc0ea9d44aa"/>
    <p:sldId xmlns:r="http://schemas.openxmlformats.org/officeDocument/2006/relationships" id="268" r:id="R39245662452c4914"/>
    <p:sldId xmlns:r="http://schemas.openxmlformats.org/officeDocument/2006/relationships" id="269" r:id="R068cf5de7d0a462c"/>
    <p:sldId xmlns:r="http://schemas.openxmlformats.org/officeDocument/2006/relationships" id="270" r:id="R54a876b3b8e84da6"/>
    <p:sldId xmlns:r="http://schemas.openxmlformats.org/officeDocument/2006/relationships" id="271" r:id="Ra4a2069c83cb4941"/>
    <p:sldId xmlns:r="http://schemas.openxmlformats.org/officeDocument/2006/relationships" id="272" r:id="Rbae8ab2e5bc64d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d1a2da66eb4378" /><Relationship Type="http://schemas.openxmlformats.org/officeDocument/2006/relationships/slideMaster" Target="/ppt/slideMasters/slideMaster1.xml" Id="Rcfdaeaad0ea84f4a" /><Relationship Type="http://schemas.openxmlformats.org/officeDocument/2006/relationships/notesMaster" Target="/ppt/notesMasters/notesMaster1.xml" Id="R077b2b875bc74633" /><Relationship Type="http://schemas.openxmlformats.org/officeDocument/2006/relationships/presProps" Target="/ppt/presProps.xml" Id="Re9fd86801a06480b" /><Relationship Type="http://schemas.openxmlformats.org/officeDocument/2006/relationships/tableStyles" Target="/ppt/tableStyles.xml" Id="R0ea460aca06e4065" /><Relationship Type="http://schemas.openxmlformats.org/officeDocument/2006/relationships/slide" Target="/ppt/slides/slide1.xml" Id="Rc9f661276d684b9a" /><Relationship Type="http://schemas.openxmlformats.org/officeDocument/2006/relationships/slide" Target="/ppt/slides/slide2.xml" Id="R80becdb267d64719" /><Relationship Type="http://schemas.openxmlformats.org/officeDocument/2006/relationships/slide" Target="/ppt/slides/slide3.xml" Id="R496ddb90c27f4a61" /><Relationship Type="http://schemas.openxmlformats.org/officeDocument/2006/relationships/slide" Target="/ppt/slides/slide4.xml" Id="Reb432600087b4da4" /><Relationship Type="http://schemas.openxmlformats.org/officeDocument/2006/relationships/slide" Target="/ppt/slides/slide5.xml" Id="R1c95de2cdfb44911" /><Relationship Type="http://schemas.openxmlformats.org/officeDocument/2006/relationships/slide" Target="/ppt/slides/slide6.xml" Id="R98a4908b7b584b73" /><Relationship Type="http://schemas.openxmlformats.org/officeDocument/2006/relationships/slide" Target="/ppt/slides/slide7.xml" Id="R9558c1ff493d4e57" /><Relationship Type="http://schemas.openxmlformats.org/officeDocument/2006/relationships/slide" Target="/ppt/slides/slide8.xml" Id="R4c3acb9968db4530" /><Relationship Type="http://schemas.openxmlformats.org/officeDocument/2006/relationships/slide" Target="/ppt/slides/slide9.xml" Id="R469ef0e295f74106" /><Relationship Type="http://schemas.openxmlformats.org/officeDocument/2006/relationships/slide" Target="/ppt/slides/slide10.xml" Id="R18c0d3728a8743b4" /><Relationship Type="http://schemas.openxmlformats.org/officeDocument/2006/relationships/slide" Target="/ppt/slides/slide11.xml" Id="Radd4e9434cd94147" /><Relationship Type="http://schemas.openxmlformats.org/officeDocument/2006/relationships/slide" Target="/ppt/slides/slide12.xml" Id="R5824efc0ea9d44aa" /><Relationship Type="http://schemas.openxmlformats.org/officeDocument/2006/relationships/slide" Target="/ppt/slides/slide13.xml" Id="R39245662452c4914" /><Relationship Type="http://schemas.openxmlformats.org/officeDocument/2006/relationships/slide" Target="/ppt/slides/slide14.xml" Id="R068cf5de7d0a462c" /><Relationship Type="http://schemas.openxmlformats.org/officeDocument/2006/relationships/slide" Target="/ppt/slides/slide15.xml" Id="R54a876b3b8e84da6" /><Relationship Type="http://schemas.openxmlformats.org/officeDocument/2006/relationships/slide" Target="/ppt/slides/slide16.xml" Id="Ra4a2069c83cb4941" /><Relationship Type="http://schemas.openxmlformats.org/officeDocument/2006/relationships/slide" Target="/ppt/slides/slide17.xml" Id="Rbae8ab2e5bc64d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d2a2a0209f4b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LaunchAgents Share">
      <a:dk1>
        <a:srgbClr val="000000"/>
      </a:dk1>
      <a:lt1>
        <a:srgbClr val="FFFFFF"/>
      </a:lt1>
      <a:dk2>
        <a:srgbClr val="111111"/>
      </a:dk2>
      <a:lt2>
        <a:srgbClr val="E5E7EB"/>
      </a:lt2>
      <a:accent1>
        <a:srgbClr val="3D8DFF"/>
      </a:accent1>
      <a:accent2>
        <a:srgbClr val="EAF5FB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D8DFF"/>
      </a:hlink>
      <a:folHlink>
        <a:srgbClr val="3D8D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aunchAgents Shar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e488aa6f74492a" /><Relationship Type="http://schemas.openxmlformats.org/officeDocument/2006/relationships/notesMaster" Target="/ppt/notesMasters/notesMaster1.xml" Id="Rc2a6bd86df504f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781c9d83e44834" /><Relationship Type="http://schemas.openxmlformats.org/officeDocument/2006/relationships/notesMaster" Target="/ppt/notesMasters/notesMaster1.xml" Id="Read745ddf1644c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025fe863604e0a" /><Relationship Type="http://schemas.openxmlformats.org/officeDocument/2006/relationships/notesMaster" Target="/ppt/notesMasters/notesMaster1.xml" Id="Rd19af625a89b4e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abc415e9e94669" /><Relationship Type="http://schemas.openxmlformats.org/officeDocument/2006/relationships/notesMaster" Target="/ppt/notesMasters/notesMaster1.xml" Id="R8ae4f14149cc43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2af4f6fe0f4e7d" /><Relationship Type="http://schemas.openxmlformats.org/officeDocument/2006/relationships/notesMaster" Target="/ppt/notesMasters/notesMaster1.xml" Id="Ra3a5fbe8ceff43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4c4ed25e144bca" /><Relationship Type="http://schemas.openxmlformats.org/officeDocument/2006/relationships/notesMaster" Target="/ppt/notesMasters/notesMaster1.xml" Id="Rf921ed905efc4e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b2a87ba1894613" /><Relationship Type="http://schemas.openxmlformats.org/officeDocument/2006/relationships/notesMaster" Target="/ppt/notesMasters/notesMaster1.xml" Id="R35365c1306eb4f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8c79d037064c5f" /><Relationship Type="http://schemas.openxmlformats.org/officeDocument/2006/relationships/notesMaster" Target="/ppt/notesMasters/notesMaster1.xml" Id="R05953f25303742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777f567f97469c" /><Relationship Type="http://schemas.openxmlformats.org/officeDocument/2006/relationships/notesMaster" Target="/ppt/notesMasters/notesMaster1.xml" Id="R774759325b6e4c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9ba82a660e4ea8" /><Relationship Type="http://schemas.openxmlformats.org/officeDocument/2006/relationships/notesMaster" Target="/ppt/notesMasters/notesMaster1.xml" Id="R7da323ffd64b46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f9624ace234c49" /><Relationship Type="http://schemas.openxmlformats.org/officeDocument/2006/relationships/notesMaster" Target="/ppt/notesMasters/notesMaster1.xml" Id="Rbaa851409f2b45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0da97e332346fa" /><Relationship Type="http://schemas.openxmlformats.org/officeDocument/2006/relationships/notesMaster" Target="/ppt/notesMasters/notesMaster1.xml" Id="R4fbcf543a55047b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a0eae1486640b7" /><Relationship Type="http://schemas.openxmlformats.org/officeDocument/2006/relationships/notesMaster" Target="/ppt/notesMasters/notesMaster1.xml" Id="R6d508692b8ea48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b90d43c520247ef" /><Relationship Type="http://schemas.openxmlformats.org/officeDocument/2006/relationships/notesMaster" Target="/ppt/notesMasters/notesMaster1.xml" Id="R43c4e4b7ee67455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a43b876a57b45b6" /><Relationship Type="http://schemas.openxmlformats.org/officeDocument/2006/relationships/notesMaster" Target="/ppt/notesMasters/notesMaster1.xml" Id="R1f6d42086e9d43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c3711c41ada4221" /><Relationship Type="http://schemas.openxmlformats.org/officeDocument/2006/relationships/notesMaster" Target="/ppt/notesMasters/notesMaster1.xml" Id="R7f233782142d431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3232013c8cb44dd" /><Relationship Type="http://schemas.openxmlformats.org/officeDocument/2006/relationships/notesMaster" Target="/ppt/notesMasters/notesMaster1.xml" Id="Rc08a9c38ba4043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开场：不要先讲定义，先带大家看自己电脑上已经存在的 LaunchAgent。</a:t>
            </a:r>
          </a:p>
          <a:p xmlns:a="http://schemas.openxmlformats.org/drawingml/2006/main">
            <a:r>
              <a:t>本页目标：让同事对主题有画面感——每天用的 Finder、Dock、Safari 背后都有 launchd 在管。</a:t>
            </a:r>
          </a:p>
          <a:p xmlns:a="http://schemas.openxmlformats.org/drawingml/2006/main">
            <a:r>
              <a:t>[Sources] Apple Support: 使用 launchd 管理脚本; Apple TN2083 Daemons and Agents.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这份大纲按 90 分钟设计，适合边讲边演示。</a:t>
            </a:r>
          </a:p>
          <a:p xmlns:a="http://schemas.openxmlformats.org/drawingml/2006/main">
            <a:r>
              <a:t>如果现场只有 60 分钟，建议保留：原生例子、plist 最小示例、launchctl 三件事、排障四步。</a:t>
            </a:r>
          </a:p>
          <a:p xmlns:a="http://schemas.openxmlformats.org/drawingml/2006/main">
            <a:r>
              <a:t>讲师节奏：每 20 分钟留一个小停顿，做一次现场操作或提问。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这一页补一个全局视角：LaunchAgents 不是孤立配置，而是 launchd 体系的一部分。</a:t>
            </a:r>
          </a:p>
          <a:p xmlns:a="http://schemas.openxmlformats.org/drawingml/2006/main">
            <a:r>
              <a:t>PID 1 可以用 ps -p 1 -o comm= 验证，现场演示会更有体感。</a:t>
            </a:r>
          </a:p>
          <a:p xmlns:a="http://schemas.openxmlformats.org/drawingml/2006/main">
            <a:r>
              <a:t>域的概念不必展开太深，只要能区分 system 与 gui/user 即可。</a:t>
            </a:r>
          </a:p>
          <a:p xmlns:a="http://schemas.openxmlformats.org/drawingml/2006/main">
            <a:r>
              <a:t>[Sources] Apple TN2083 Daemons and Agents; man launchd(8); launchd.info.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讲法：拿大家熟悉的现象提问——为什么 Finder 退出后会自己回来？为什么 Safari 能提示密码泄露？</a:t>
            </a:r>
          </a:p>
          <a:p xmlns:a="http://schemas.openxmlformats.org/drawingml/2006/main">
            <a:r>
              <a:t>这些名字都来自本机 /System/Library/LaunchAgents 下的 plist，是可查证的真实例子。</a:t>
            </a:r>
          </a:p>
          <a:p xmlns:a="http://schemas.openxmlformats.org/drawingml/2006/main">
            <a:r>
              <a:t>重点不是记名字，而是建立直觉：很多“安静但持续存在”的能力，背后都是一个 Agent。</a:t>
            </a:r>
          </a:p>
          <a:p xmlns:a="http://schemas.openxmlformats.org/drawingml/2006/main">
            <a:r>
              <a:t>[Sources] 本机 plutil -p /System/Library/LaunchAgents/com.apple.Finder.plist、com.apple.Dock.plist、com.apple.Safari.PasswordBreachAgent.plist、com.apple.quicklook.ThumbnailsAgent.plist.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这里最关键的分界是“运行身份和可见 UI”。</a:t>
            </a:r>
          </a:p>
          <a:p xmlns:a="http://schemas.openxmlformats.org/drawingml/2006/main">
            <a:r>
              <a:t>Agent 属于某个登录用户，能访问用户主目录，也能显示通知/小界面；Daemon 是系统级、无 UI。</a:t>
            </a:r>
          </a:p>
          <a:p xmlns:a="http://schemas.openxmlformats.org/drawingml/2006/main">
            <a:r>
              <a:t>多数日常自动化（同步、备份、清理、定时提醒）应该用 Agent，而不是 Daemon。</a:t>
            </a:r>
          </a:p>
          <a:p xmlns:a="http://schemas.openxmlformats.org/drawingml/2006/main">
            <a:r>
              <a:t>[Sources] Apple TN2083 Daemons and Agents: Daemon / Agent 定义; man launchd.plist.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三个目录可以用“系统级、所有用户、仅当前用户”来记。</a:t>
            </a:r>
          </a:p>
          <a:p xmlns:a="http://schemas.openxmlformats.org/drawingml/2006/main">
            <a:r>
              <a:t>个人实验放 ~/Library/LaunchAgents 最安全，不需要 sudo。</a:t>
            </a:r>
          </a:p>
          <a:p xmlns:a="http://schemas.openxmlformats.org/drawingml/2006/main">
            <a:r>
              <a:t>LaunchDaemons 在 LaunchDaemons 目录，面向系统级、通常 root 运行，今天不展开。</a:t>
            </a:r>
          </a:p>
          <a:p xmlns:a="http://schemas.openxmlformats.org/drawingml/2006/main">
            <a:r>
              <a:t>[Sources] Apple Support: 使用 launchd 管理脚本; man launchd.plist FILES 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plist 是 Apple 的 XML 配置文件，也是 launchd 的“任务说明书”。</a:t>
            </a:r>
          </a:p>
          <a:p xmlns:a="http://schemas.openxmlformats.org/drawingml/2006/main">
            <a:r>
              <a:t>强调 ProgramArguments 是数组：很多人会误写成一行字符串。</a:t>
            </a:r>
          </a:p>
          <a:p xmlns:a="http://schemas.openxmlformats.org/drawingml/2006/main">
            <a:r>
              <a:t>KeepAlive 很强大但容易踩坑，后面避坑页会展开。</a:t>
            </a:r>
          </a:p>
          <a:p xmlns:a="http://schemas.openxmlformats.org/drawingml/2006/main">
            <a:r>
              <a:t>[Sources] man launchd.plist XML PROPERTY LIST KEYS: Label, ProgramArguments, RunAtLoad, StartInterval, KeepAlive.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这个示例刻意保持短，让同事把结构看清楚：Label、ProgramArguments、StartInterval、日志路径。</a:t>
            </a:r>
          </a:p>
          <a:p xmlns:a="http://schemas.openxmlformats.org/drawingml/2006/main">
            <a:r>
              <a:t>讲解时可以打开一个 plist 文件逐行对照。</a:t>
            </a:r>
          </a:p>
          <a:p xmlns:a="http://schemas.openxmlformats.org/drawingml/2006/main">
            <a:r>
              <a:t>注意 /Users/me/bin/beat.sh 要写成绝对路径，不能写 ~。</a:t>
            </a:r>
          </a:p>
          <a:p xmlns:a="http://schemas.openxmlformats.org/drawingml/2006/main">
            <a:r>
              <a:t>[Sources] man launchd.plist; Apple TN2083 Getting Launched / property list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用这页把前面零散概念串起来：plist -&gt; 装载 -&gt; 条件判断 -&gt; 进程 -&gt; 日志/重启。</a:t>
            </a:r>
          </a:p>
          <a:p xmlns:a="http://schemas.openxmlformats.org/drawingml/2006/main">
            <a:r>
              <a:t>可以现场执行 launchctl print gui/$(id -u)/com.example.heartbeat，对着输出找 state、last exit status。</a:t>
            </a:r>
          </a:p>
          <a:p xmlns:a="http://schemas.openxmlformats.org/drawingml/2006/main">
            <a:r>
              <a:t>强调“装载”和“启动”是两个动作，这是新手最容易混淆的点。</a:t>
            </a:r>
          </a:p>
          <a:p xmlns:a="http://schemas.openxmlformats.org/drawingml/2006/main">
            <a:r>
              <a:t>[Sources] man launchd.plist; man launchctl; launchd.info.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实际演示顺序：先 bootstrap 装载，再 print 看状态，最后 kickstart -k 强制重跑。</a:t>
            </a:r>
          </a:p>
          <a:p xmlns:a="http://schemas.openxmlformats.org/drawingml/2006/main">
            <a:r>
              <a:t>gui/$(id -u) 指定当前登录用户的 GUI 域，LaunchAgent 通常都挂在这里。</a:t>
            </a:r>
          </a:p>
          <a:p xmlns:a="http://schemas.openxmlformats.org/drawingml/2006/main">
            <a:r>
              <a:t>不建议继续用 load/unload，现代 macOS 推荐 bootstrap/bootout/enable/disable。</a:t>
            </a:r>
          </a:p>
          <a:p xmlns:a="http://schemas.openxmlformats.org/drawingml/2006/main">
            <a:r>
              <a:t>[Sources] man launchctl: bootstrap, bootout, print, kickstart; man launchctl LEGACY SUBCOMMANDS.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这一页回答“任务什么时候开始”。</a:t>
            </a:r>
          </a:p>
          <a:p xmlns:a="http://schemas.openxmlformats.org/drawingml/2006/main">
            <a:r>
              <a:t>对同事最实用的是 StartInterval 和 StartCalendarInterval；WatchPaths 适合文件到达、目录变化等自动化。</a:t>
            </a:r>
          </a:p>
          <a:p xmlns:a="http://schemas.openxmlformats.org/drawingml/2006/main">
            <a:r>
              <a:t>KeepAlive 要谨慎，尤其是脚本很快退出时容易形成 crash loop。</a:t>
            </a:r>
          </a:p>
          <a:p xmlns:a="http://schemas.openxmlformats.org/drawingml/2006/main">
            <a:r>
              <a:t>[Sources] man launchd.plist: RunAtLoad, StartInterval, StartCalendarInterval, WatchPaths, Sockets, KeepAlive.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只在真正需要全局服务时用 Daemon；个人自动化通常用 Agent 即可。</a:t>
            </a:r>
          </a:p>
          <a:p xmlns:a="http://schemas.openxmlformats.org/drawingml/2006/main">
            <a:r>
              <a:t>演示命令时强调 system 域需要 sudo，gui/$(id -u) 则不需要。</a:t>
            </a:r>
          </a:p>
          <a:p xmlns:a="http://schemas.openxmlformats.org/drawingml/2006/main">
            <a:r>
              <a:t>文件权限：/Library/LaunchDaemons 中的 plist 由 root 拥有，并禁止组/其他用户可写。</a:t>
            </a:r>
          </a:p>
          <a:p xmlns:a="http://schemas.openxmlformats.org/drawingml/2006/main">
            <a:r>
              <a:t>[Sources] Apple Daemons and Services Programming Guide; man launchd.plist; man launchctl.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给一个可照做的完整路径，方便同事下课后直接复现。</a:t>
            </a:r>
          </a:p>
          <a:p xmlns:a="http://schemas.openxmlformats.org/drawingml/2006/main">
            <a:r>
              <a:t>脚本示例可以是一个清理 Downloads 或备份某个文件夹的小脚本。</a:t>
            </a:r>
          </a:p>
          <a:p xmlns:a="http://schemas.openxmlformats.org/drawingml/2006/main">
            <a:r>
              <a:t>关键动作是 plist 校验、bootstrap、print/kickstart 验证。</a:t>
            </a:r>
          </a:p>
          <a:p xmlns:a="http://schemas.openxmlformats.org/drawingml/2006/main">
            <a:r>
              <a:t>[Sources] man launchd.plist; man launchctl.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排障顺序很重要：先语法，再路径权限，然后看 launchd 状态，最后强制重跑验证。</a:t>
            </a:r>
          </a:p>
          <a:p xmlns:a="http://schemas.openxmlformats.org/drawingml/2006/main">
            <a:r>
              <a:t>print 输出里能看 last exit status、运行 PID、触发原因等关键信息。</a:t>
            </a:r>
          </a:p>
          <a:p xmlns:a="http://schemas.openxmlformats.org/drawingml/2006/main">
            <a:r>
              <a:t>日志是排障最省时间的投资，强烈建议一开始就配。</a:t>
            </a:r>
          </a:p>
          <a:p xmlns:a="http://schemas.openxmlformats.org/drawingml/2006/main">
            <a:r>
              <a:t>[Sources] man launchctl: print, kickstart; man launchd.plist: StandardOutPath, StandardErrorPath.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这一页把前面出现的风险集中成清单，方便大家检查自己的配置。</a:t>
            </a:r>
          </a:p>
          <a:p xmlns:a="http://schemas.openxmlformats.org/drawingml/2006/main">
            <a:r>
              <a:t>重点强调 KeepAlive 不是万能开关，而是“常驻/重启策略”。</a:t>
            </a:r>
          </a:p>
          <a:p xmlns:a="http://schemas.openxmlformats.org/drawingml/2006/main">
            <a:r>
              <a:t>个人 LaunchAgent 放在 ~/Library/LaunchAgents，文件所有权应该是当前用户。</a:t>
            </a:r>
          </a:p>
          <a:p xmlns:a="http://schemas.openxmlformats.org/drawingml/2006/main">
            <a:r>
              <a:t>[Sources] man launchd.plist; man launchctl LEGACY load/unload security notes; Apple TN2083.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推荐顺序：入门看 Apple Support；系统理解看 TN2083；查配置键看 launchd.info 或 man launchd.plist。</a:t>
            </a:r>
          </a:p>
          <a:p xmlns:a="http://schemas.openxmlformats.org/drawingml/2006/main">
            <a:r>
              <a:t>GUI 工具建议新手用 Lingon 快速上手，深入学习后用 LaunchControl 做调试和日志分析。</a:t>
            </a:r>
          </a:p>
          <a:p xmlns:a="http://schemas.openxmlformats.org/drawingml/2006/main">
            <a:r>
              <a:t>URLs: https://support.apple.com/zh-cn/guide/terminal/apdc6c1077b-5d5d-4d35-9c19-60f2397b2369/2.8/mac, https://developer.apple.com/library/archive/technotes/tn2083/_index.html, https://developer.apple.com/library/archive/documentation/MacOSX/Conceptual/BPSystemStartup/Chapters/DesigningDaemons.html, https://launchd.info/, https://www.soma-zone.com/LaunchControl/, https://www.peterborgapps.com/lingon/</a:t>
            </a:r>
          </a:p>
          <a:p xmlns:a="http://schemas.openxmlformats.org/drawingml/2006/main">
            <a:r>
              <a:t>[Sources] Apple Support; Apple TN2083; Apple Daemons and Services Programming Guide; launchd.info; LaunchControl; Lingon.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收束到行动：LaunchAgents 不是只有系统在用，个人也可以拿来解决真实重复劳动。</a:t>
            </a:r>
          </a:p>
          <a:p xmlns:a="http://schemas.openxmlformats.org/drawingml/2006/main">
            <a:r>
              <a:t>建议下课前留 5 分钟现场演示一个最小示例。</a:t>
            </a:r>
          </a:p>
          <a:p xmlns:a="http://schemas.openxmlformats.org/drawingml/2006/main">
            <a:r>
              <a:t>[Sources] Apple Support: 使用 launchd 管理脚本; man launchd.plist; man launchctl.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14579443b848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94c0ddb2f74041" /><Relationship Type="http://schemas.openxmlformats.org/officeDocument/2006/relationships/slideLayout" Target="/ppt/slideLayouts/slideLayout1.xml" Id="R0903d69ca1e94a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03d69ca1e94a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LaunchAgents Share">
      <a:dk1>
        <a:srgbClr val="000000"/>
      </a:dk1>
      <a:lt1>
        <a:srgbClr val="FFFFFF"/>
      </a:lt1>
      <a:dk2>
        <a:srgbClr val="111111"/>
      </a:dk2>
      <a:lt2>
        <a:srgbClr val="E5E7EB"/>
      </a:lt2>
      <a:accent1>
        <a:srgbClr val="3D8DFF"/>
      </a:accent1>
      <a:accent2>
        <a:srgbClr val="EAF5FB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D8DFF"/>
      </a:hlink>
      <a:folHlink>
        <a:srgbClr val="3D8D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aunchAgents Shar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e97478c5b4d33" /><Relationship Type="http://schemas.openxmlformats.org/officeDocument/2006/relationships/notesSlide" Target="/ppt/notesSlides/notesSlide1.xml" Id="R62a7d403298840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f6250c6bd4d62" /><Relationship Type="http://schemas.openxmlformats.org/officeDocument/2006/relationships/notesSlide" Target="/ppt/notesSlides/notesSlide2.xml" Id="Raf0b07c74bb746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d6666367742be" /><Relationship Type="http://schemas.openxmlformats.org/officeDocument/2006/relationships/notesSlide" Target="/ppt/notesSlides/notesSlide3.xml" Id="R0d095e6bc07741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72d0a14de4a22" /><Relationship Type="http://schemas.openxmlformats.org/officeDocument/2006/relationships/notesSlide" Target="/ppt/notesSlides/notesSlide4.xml" Id="R02f62c6758574f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2abe2f10c4adf" /><Relationship Type="http://schemas.openxmlformats.org/officeDocument/2006/relationships/notesSlide" Target="/ppt/notesSlides/notesSlide5.xml" Id="R617b564d744b4e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fc3056ca646bf" /><Relationship Type="http://schemas.openxmlformats.org/officeDocument/2006/relationships/notesSlide" Target="/ppt/notesSlides/notesSlide6.xml" Id="R2ef9b1dc0a9544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bdfccfe1a4214" /><Relationship Type="http://schemas.openxmlformats.org/officeDocument/2006/relationships/notesSlide" Target="/ppt/notesSlides/notesSlide7.xml" Id="R9bcbc79fa1cd42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e818e828a4981" /><Relationship Type="http://schemas.openxmlformats.org/officeDocument/2006/relationships/notesSlide" Target="/ppt/notesSlides/notesSlide8.xml" Id="R4b5e6358eecb44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1168c5b38496e" /><Relationship Type="http://schemas.openxmlformats.org/officeDocument/2006/relationships/notesSlide" Target="/ppt/notesSlides/notesSlide9.xml" Id="R79284ab1f59940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ab30605834c88" /><Relationship Type="http://schemas.openxmlformats.org/officeDocument/2006/relationships/notesSlide" Target="/ppt/notesSlides/notesSlide10.xml" Id="R452b34199c014d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745d820f64062" /><Relationship Type="http://schemas.openxmlformats.org/officeDocument/2006/relationships/notesSlide" Target="/ppt/notesSlides/notesSlide11.xml" Id="Rddff796ecd1946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2f5c7df854da1" /><Relationship Type="http://schemas.openxmlformats.org/officeDocument/2006/relationships/notesSlide" Target="/ppt/notesSlides/notesSlide12.xml" Id="R31edfa3042f749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1342da8e842f9" /><Relationship Type="http://schemas.openxmlformats.org/officeDocument/2006/relationships/notesSlide" Target="/ppt/notesSlides/notesSlide13.xml" Id="Ra67f8251143b4e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15ef64f5d42e6" /><Relationship Type="http://schemas.openxmlformats.org/officeDocument/2006/relationships/notesSlide" Target="/ppt/notesSlides/notesSlide14.xml" Id="R3f562e4fdd9f41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9a90b954f49aa" /><Relationship Type="http://schemas.openxmlformats.org/officeDocument/2006/relationships/notesSlide" Target="/ppt/notesSlides/notesSlide15.xml" Id="R482578eb34b34c1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4c98ed7324fcd" /><Relationship Type="http://schemas.openxmlformats.org/officeDocument/2006/relationships/notesSlide" Target="/ppt/notesSlides/notesSlide16.xml" Id="Rf04929991f0e4e5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7a31fdf814edd" /><Relationship Type="http://schemas.openxmlformats.org/officeDocument/2006/relationships/notesSlide" Target="/ppt/notesSlides/notesSlide17.xml" Id="R126ce644c3e84e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5CF8F8B1-98D9-46E3-9B6D-A9425C19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内部技术分享 · macOS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57F8446-18BD-4844-88C0-11DFCCC9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857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把后台任务交给 launchd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8EE3C339-2302-442F-A0DD-9922A02F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EDCBF86-069E-46F1-A1A7-36D6A6F2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809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macOS LaunchAgents 入门：概念、配置、命令与排障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约 90 分钟 · 从系统自带例子到能自己写、查、排障。</a:t>
            </a:r>
          </a:p>
        </p:txBody>
      </p:sp>
    </p:spTree>
    <p:extLst>
      <p:ext uri="{BB962C8B-B14F-4D97-AF65-F5344CB8AC3E}">
        <p14:creationId xmlns:p14="http://schemas.microsoft.com/office/powerpoint/2010/main" val="4604114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FCCE6B-14EB-4273-AAED-5076AADA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90 分钟：从概念到能自己排障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4E002BFE-A0FF-4706-B91A-AAA01CE8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E8075A73-38A5-4A05-B3A5-5AAFA645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38600"/>
        </p:xfrm>
        <a:graphic xmlns:a="http://schemas.openxmlformats.org/drawingml/2006/main">
          <a:graphicData uri="http://schemas.openxmlformats.org/drawingml/2006/table">
            <a:tbl>
              <a:tblPr firstRow="1" firstCol="0" bandRow="0"/>
              <a:tblGrid>
                <a:gridCol w="1143000"/>
                <a:gridCol w="3714750"/>
                <a:gridCol w="6115050"/>
              </a:tblGrid>
              <a:tr h="495300">
                <a:tc>
                  <a:txBody>
                    <a:bodyPr lIns="114300" tIns="57150" rIns="114300" bIns="57150"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时间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目标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  <a:tr h="59055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15 min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从系统自带例子认识 LaunchAgents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建立“后台任务由 launchd 管”的直觉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20 min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plist 配置与最小示例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能读懂并写出一个简单 Agent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</a:tr>
              <a:tr h="59055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20 min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launchd 执行过程与 launchctl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理解装载、启动、检查、卸载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10 min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LaunchDaemon 守护进程管理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知道什么时候用 Daemon，以及 root 权限边界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</a:tr>
              <a:tr h="59055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15 min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实操与排障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 lint、print、日志定位问题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10 min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工具、学习资源与 Q&amp;A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后续能自行查文档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5" name="agenda-note">
            <a:extLst xmlns:a="http://schemas.openxmlformats.org/drawingml/2006/main">
              <a:ext uri="{FF2B5EF4-FFF2-40B4-BE49-F238E27FC236}">
                <a16:creationId xmlns:a16="http://schemas.microsoft.com/office/drawing/2014/main" id="{0E3A5A13-775B-43BE-A0C0-C5673DC2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如需压缩到 75 分钟：把实操排障和 Q&amp;A 各缩短 5–10 分钟，核心配置与 launchctl 部分保持完整。</a:t>
            </a:r>
          </a:p>
        </p:txBody>
      </p:sp>
    </p:spTree>
    <p:extLst>
      <p:ext uri="{BB962C8B-B14F-4D97-AF65-F5344CB8AC3E}">
        <p14:creationId xmlns:p14="http://schemas.microsoft.com/office/powerpoint/2010/main" val="11946241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0362E0-31CD-4C5F-921D-5637B6E5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先认识 launchd：macOS 的管家进程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E7CD230D-C334-41C0-8454-F151D666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DAB7F6FF-027F-4F66-BB1C-F874A807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4" name="concept-left-title">
            <a:extLst xmlns:a="http://schemas.openxmlformats.org/drawingml/2006/main">
              <a:ext uri="{FF2B5EF4-FFF2-40B4-BE49-F238E27FC236}">
                <a16:creationId xmlns:a16="http://schemas.microsoft.com/office/drawing/2014/main" id="{A4E67C6D-2A1C-4D6F-8293-6543DE74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它是什么</a:t>
            </a:r>
          </a:p>
        </p:txBody>
      </p:sp>
      <p:sp>
        <p:nvSpPr>
          <p:cNvPr id="5" name="concept-left-body">
            <a:extLst xmlns:a="http://schemas.openxmlformats.org/drawingml/2006/main">
              <a:ext uri="{FF2B5EF4-FFF2-40B4-BE49-F238E27FC236}">
                <a16:creationId xmlns:a16="http://schemas.microsoft.com/office/drawing/2014/main" id="{8E64295B-0C91-477A-9CA4-F866C14C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143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30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PID 1：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内核启动后最早运行的用户态进程之一</a:t>
            </a:r>
          </a:p>
          <a:p xmlns:a="http://schemas.openxmlformats.org/drawingml/2006/main">
            <a:pPr marL="22" indent="-12" algn="l">
              <a:lnSpc>
                <a:spcPct val="130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统一管家：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管理守护进程、代理、应用和脚本的启停</a:t>
            </a:r>
          </a:p>
          <a:p xmlns:a="http://schemas.openxmlformats.org/drawingml/2006/main">
            <a:pPr marL="22" indent="-12" algn="l">
              <a:lnSpc>
                <a:spcPct val="130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按 job 管理：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每个任务用 plist 注册，由 launchd 监控生命周期</a:t>
            </a:r>
          </a:p>
        </p:txBody>
      </p:sp>
      <p:sp>
        <p:nvSpPr>
          <p:cNvPr id="6" name="concept-right-title">
            <a:extLst xmlns:a="http://schemas.openxmlformats.org/drawingml/2006/main">
              <a:ext uri="{FF2B5EF4-FFF2-40B4-BE49-F238E27FC236}">
                <a16:creationId xmlns:a16="http://schemas.microsoft.com/office/drawing/2014/main" id="{B4B022BA-CAC4-4283-A0FD-DE409ED8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怎么理解</a:t>
            </a:r>
          </a:p>
        </p:txBody>
      </p:sp>
      <p:sp>
        <p:nvSpPr>
          <p:cNvPr id="7" name="concept-right-body">
            <a:extLst xmlns:a="http://schemas.openxmlformats.org/drawingml/2006/main">
              <a:ext uri="{FF2B5EF4-FFF2-40B4-BE49-F238E27FC236}">
                <a16:creationId xmlns:a16="http://schemas.microsoft.com/office/drawing/2014/main" id="{DF64BA67-9CDB-4242-A05A-87B31C3E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5143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30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类比：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物业总控 + 定时调度中心</a:t>
            </a:r>
          </a:p>
          <a:p xmlns:a="http://schemas.openxmlformats.org/drawingml/2006/main">
            <a:pPr marL="22" indent="-12" algn="l">
              <a:lnSpc>
                <a:spcPct val="130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分域隔离：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system 管全局，user/gui 管登录用户</a:t>
            </a:r>
          </a:p>
          <a:p xmlns:a="http://schemas.openxmlformats.org/drawingml/2006/main">
            <a:pPr marL="22" indent="-12" algn="l">
              <a:lnSpc>
                <a:spcPct val="130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能力更强：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支持按事件、端口、文件变化等条件启动</a:t>
            </a:r>
          </a:p>
        </p:txBody>
      </p:sp>
      <p:sp>
        <p:nvSpPr>
          <p:cNvPr id="8" name="concept-summary-panel">
            <a:extLst xmlns:a="http://schemas.openxmlformats.org/drawingml/2006/main">
              <a:ext uri="{FF2B5EF4-FFF2-40B4-BE49-F238E27FC236}">
                <a16:creationId xmlns:a16="http://schemas.microsoft.com/office/drawing/2014/main" id="{3CB10A16-B441-4146-9A78-E4DC5C7F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concept-summary">
            <a:extLst xmlns:a="http://schemas.openxmlformats.org/drawingml/2006/main">
              <a:ext uri="{FF2B5EF4-FFF2-40B4-BE49-F238E27FC236}">
                <a16:creationId xmlns:a16="http://schemas.microsoft.com/office/drawing/2014/main" id="{F5848573-7F2C-4FA3-9459-BB2B56D6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1051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2B4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2B45"/>
                </a:solidFill>
                <a:latin typeface="PingFang SC"/>
                <a:ea typeface="PingFang SC"/>
                <a:cs typeface="PingFang SC"/>
              </a:rPr>
              <a:t>对今天来说：LaunchAgent 就是 launchd 在用户域里管理的一类 job。</a:t>
            </a:r>
          </a:p>
        </p:txBody>
      </p:sp>
    </p:spTree>
    <p:extLst>
      <p:ext uri="{BB962C8B-B14F-4D97-AF65-F5344CB8AC3E}">
        <p14:creationId xmlns:p14="http://schemas.microsoft.com/office/powerpoint/2010/main" val="15933048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271475-13A2-46DF-8717-2CA46C97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你每天用的这些，其实都是 LaunchAgent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0974A72A-956A-4271-99E0-65B845FB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8D5086A0-C857-49DD-A5EB-925BDB61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38600"/>
        </p:xfrm>
        <a:graphic xmlns:a="http://schemas.openxmlformats.org/drawingml/2006/main">
          <a:graphicData uri="http://schemas.openxmlformats.org/drawingml/2006/table">
            <a:tbl>
              <a:tblPr firstRow="1" firstCol="0" bandRow="0"/>
              <a:tblGrid>
                <a:gridCol w="2952750"/>
                <a:gridCol w="2190750"/>
                <a:gridCol w="5829300"/>
              </a:tblGrid>
              <a:tr h="495300">
                <a:tc>
                  <a:txBody>
                    <a:bodyPr lIns="114300" tIns="57150" rIns="114300" bIns="57150"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系统里的 Agent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你能感知到的功能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它背后在做什么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  <a:tr h="85725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com.apple.Finder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Finder 始终可用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KeepAlive 让 Finder 异常退出后自动重启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com.apple.Dock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Dock 和桌面服务正常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管理 Dock 进程，并注册多种桌面服务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</a:tr>
              <a:tr h="85725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com.apple.Safari.PasswordBreachAgent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Safari 提示密码泄露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按周期检查密码是否出现在泄露事件中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com.apple.quicklook.ThumbnailsAgent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缩略图快速生成与清理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响应文件事件并定期清理缩略图缓存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5" name="examples-footnote">
            <a:extLst xmlns:a="http://schemas.openxmlformats.org/drawingml/2006/main">
              <a:ext uri="{FF2B5EF4-FFF2-40B4-BE49-F238E27FC236}">
                <a16:creationId xmlns:a16="http://schemas.microsoft.com/office/drawing/2014/main" id="{539403F5-8B09-4586-89FC-BBC473F9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这些 plist 都放在 /System/Library/LaunchAgents，由 launchd 在用户登录后按需管理。</a:t>
            </a:r>
          </a:p>
        </p:txBody>
      </p:sp>
    </p:spTree>
    <p:extLst>
      <p:ext uri="{BB962C8B-B14F-4D97-AF65-F5344CB8AC3E}">
        <p14:creationId xmlns:p14="http://schemas.microsoft.com/office/powerpoint/2010/main" val="380182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FD1D37-F9C4-47D7-A4F1-B71365A3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LaunchAgent 是替某个用户干活的自动助手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EC6FE81E-992B-47E0-B52E-D1CC51D7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78AFF8FB-67B5-40D8-B70D-C0438429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4" name="agent-heading">
            <a:extLst xmlns:a="http://schemas.openxmlformats.org/drawingml/2006/main">
              <a:ext uri="{FF2B5EF4-FFF2-40B4-BE49-F238E27FC236}">
                <a16:creationId xmlns:a16="http://schemas.microsoft.com/office/drawing/2014/main" id="{5DC590A6-CE7B-4155-950A-2CF5B9D0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LaunchAgent</a:t>
            </a:r>
          </a:p>
        </p:txBody>
      </p:sp>
      <p:sp>
        <p:nvSpPr>
          <p:cNvPr id="5" name="agent-body">
            <a:extLst xmlns:a="http://schemas.openxmlformats.org/drawingml/2006/main">
              <a:ext uri="{FF2B5EF4-FFF2-40B4-BE49-F238E27FC236}">
                <a16:creationId xmlns:a16="http://schemas.microsoft.com/office/drawing/2014/main" id="{D853C04D-72BE-40A7-8176-50E04E72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28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跟用户走：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以某个登录用户的身份运行</a:t>
            </a:r>
          </a:p>
          <a:p xmlns:a="http://schemas.openxmlformats.org/drawingml/2006/main">
            <a:pPr marL="22" indent="-12" algn="l">
              <a:lnSpc>
                <a:spcPct val="128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可访问用户资源：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能访问该用户的主目录、钥匙串等</a:t>
            </a:r>
          </a:p>
          <a:p xmlns:a="http://schemas.openxmlformats.org/drawingml/2006/main">
            <a:pPr marL="22" indent="-12" algn="l">
              <a:lnSpc>
                <a:spcPct val="128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允许少量 UI：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需要时可以显示界面或通知</a:t>
            </a:r>
          </a:p>
          <a:p xmlns:a="http://schemas.openxmlformats.org/drawingml/2006/main">
            <a:pPr marL="22" indent="-12" algn="l">
              <a:lnSpc>
                <a:spcPct val="128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典型场景：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同步、备份、定时清理、开机自启小工具</a:t>
            </a:r>
          </a:p>
        </p:txBody>
      </p:sp>
      <p:sp>
        <p:nvSpPr>
          <p:cNvPr id="6" name="daemon-heading">
            <a:extLst xmlns:a="http://schemas.openxmlformats.org/drawingml/2006/main">
              <a:ext uri="{FF2B5EF4-FFF2-40B4-BE49-F238E27FC236}">
                <a16:creationId xmlns:a16="http://schemas.microsoft.com/office/drawing/2014/main" id="{14144F16-CA44-43A7-8BB0-22EA01A2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LaunchDaemon</a:t>
            </a:r>
          </a:p>
        </p:txBody>
      </p:sp>
      <p:sp>
        <p:nvSpPr>
          <p:cNvPr id="7" name="daemon-body">
            <a:extLst xmlns:a="http://schemas.openxmlformats.org/drawingml/2006/main">
              <a:ext uri="{FF2B5EF4-FFF2-40B4-BE49-F238E27FC236}">
                <a16:creationId xmlns:a16="http://schemas.microsoft.com/office/drawing/2014/main" id="{89F50486-9D3A-4AE6-B871-E152C04F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6690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28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跟系统走：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系统级运行，不属于某个登录用户</a:t>
            </a:r>
          </a:p>
          <a:p xmlns:a="http://schemas.openxmlformats.org/drawingml/2006/main">
            <a:pPr marL="22" indent="-12" algn="l">
              <a:lnSpc>
                <a:spcPct val="128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通常无 UI：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不能连接窗口服务器，适合纯后台服务</a:t>
            </a:r>
          </a:p>
          <a:p xmlns:a="http://schemas.openxmlformats.org/drawingml/2006/main">
            <a:pPr marL="22" indent="-12" algn="l">
              <a:lnSpc>
                <a:spcPct val="128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全局服务：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Web 服务、网络守护、系统级监控等</a:t>
            </a:r>
          </a:p>
          <a:p xmlns:a="http://schemas.openxmlformats.org/drawingml/2006/main">
            <a:pPr marL="22" indent="-12" algn="l">
              <a:lnSpc>
                <a:spcPct val="128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权限更高：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常以 root 身份运行，修改需谨慎</a:t>
            </a:r>
          </a:p>
        </p:txBody>
      </p:sp>
      <p:sp>
        <p:nvSpPr>
          <p:cNvPr id="8" name="one-liner-panel">
            <a:extLst xmlns:a="http://schemas.openxmlformats.org/drawingml/2006/main">
              <a:ext uri="{FF2B5EF4-FFF2-40B4-BE49-F238E27FC236}">
                <a16:creationId xmlns:a16="http://schemas.microsoft.com/office/drawing/2014/main" id="{7F57C5AF-413F-46DF-AFA5-2A9C1183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one-liner">
            <a:extLst xmlns:a="http://schemas.openxmlformats.org/drawingml/2006/main">
              <a:ext uri="{FF2B5EF4-FFF2-40B4-BE49-F238E27FC236}">
                <a16:creationId xmlns:a16="http://schemas.microsoft.com/office/drawing/2014/main" id="{F4852284-A7A5-4B66-B202-E550B6A2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1051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0F2B4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2B45"/>
                </a:solidFill>
                <a:latin typeface="PingFang SC"/>
                <a:ea typeface="PingFang SC"/>
                <a:cs typeface="PingFang SC"/>
              </a:rPr>
              <a:t>一句话记法：Agent 跟登录用户走；Daemon 跟整台系统走。做个人自动化，优先选 Agent。</a:t>
            </a:r>
          </a:p>
        </p:txBody>
      </p:sp>
    </p:spTree>
    <p:extLst>
      <p:ext uri="{BB962C8B-B14F-4D97-AF65-F5344CB8AC3E}">
        <p14:creationId xmlns:p14="http://schemas.microsoft.com/office/powerpoint/2010/main" val="1095179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A77DD0-2BF6-4473-80E3-CE329F4B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放对目录，launchd 才知道谁、在哪运行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C9B05826-68E4-4983-B28A-64F94B44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ED1EF5E6-B24C-490D-8D12-969D6880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733800"/>
        </p:xfrm>
        <a:graphic xmlns:a="http://schemas.openxmlformats.org/drawingml/2006/main">
          <a:graphicData uri="http://schemas.openxmlformats.org/drawingml/2006/table">
            <a:tbl>
              <a:tblPr firstRow="1" firstCol="0" bandRow="0"/>
              <a:tblGrid>
                <a:gridCol w="3714750"/>
                <a:gridCol w="2667000"/>
                <a:gridCol w="4591050"/>
              </a:tblGrid>
              <a:tr h="495300">
                <a:tc>
                  <a:txBody>
                    <a:bodyPr lIns="114300" tIns="57150" rIns="114300" bIns="57150"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目录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谁安装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  <a:tr h="95250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/System/Library/LaunchAgents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Apple 系统自带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系统提供，所有用户登录后按用户运行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/Library/LaunchAgents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管理员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第三方 Agent，对所有用户生效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</a:tr>
              <a:tr h="95250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~/Library/LaunchAgents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当前用户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只服务当前用户，最适合个人自动化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locations-footnote">
            <a:extLst xmlns:a="http://schemas.openxmlformats.org/drawingml/2006/main">
              <a:ext uri="{FF2B5EF4-FFF2-40B4-BE49-F238E27FC236}">
                <a16:creationId xmlns:a16="http://schemas.microsoft.com/office/drawing/2014/main" id="{974835C2-B5D1-43E6-8C8D-1E926AE0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LaunchDaemons 使用类似目录（LaunchDaemons），但面向系统级服务。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个人脚本建议放 ~/Library/LaunchAgents，避免影响其他用户。</a:t>
            </a:r>
          </a:p>
        </p:txBody>
      </p:sp>
    </p:spTree>
    <p:extLst>
      <p:ext uri="{BB962C8B-B14F-4D97-AF65-F5344CB8AC3E}">
        <p14:creationId xmlns:p14="http://schemas.microsoft.com/office/powerpoint/2010/main" val="11373611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E62FE7-F4F7-43ED-8B3B-05D832AE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plist 就是一张任务说明书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56B5822-F518-4A9E-8653-17CCF1DC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F1F580F4-B224-4FD8-9646-30D3DA6A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229100"/>
        </p:xfrm>
        <a:graphic xmlns:a="http://schemas.openxmlformats.org/drawingml/2006/main">
          <a:graphicData uri="http://schemas.openxmlformats.org/drawingml/2006/table">
            <a:tbl>
              <a:tblPr firstRow="1" firstCol="0" bandRow="0"/>
              <a:tblGrid>
                <a:gridCol w="2190750"/>
                <a:gridCol w="2857500"/>
                <a:gridCol w="5924550"/>
              </a:tblGrid>
              <a:tr h="495300">
                <a:tc>
                  <a:txBody>
                    <a:bodyPr lIns="114300" tIns="57150" rIns="114300" bIns="57150"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Key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示例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  <a:tr h="72390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Label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任务唯一标识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com.example.heartbeat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ProgramArguments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要执行的命令，必须是数组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/bin/sh + 脚本路径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</a:tr>
              <a:tr h="72390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RunAtLoad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装载后是否立即跑一次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true / false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StartInterval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每隔多少秒跑一次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300（即 5 分钟）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</a:tr>
              <a:tr h="72390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KeepAlive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是否常驻或异常后重启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true / false / 条件字典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list-footnote">
            <a:extLst xmlns:a="http://schemas.openxmlformats.org/drawingml/2006/main">
              <a:ext uri="{FF2B5EF4-FFF2-40B4-BE49-F238E27FC236}">
                <a16:creationId xmlns:a16="http://schemas.microsoft.com/office/drawing/2014/main" id="{63118FD1-A735-4A9C-9648-45F50C9A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先掌握这五个就够日常使用；更多条件（日历时间、文件监听、日志）后面会看到。</a:t>
            </a:r>
          </a:p>
        </p:txBody>
      </p:sp>
    </p:spTree>
    <p:extLst>
      <p:ext uri="{BB962C8B-B14F-4D97-AF65-F5344CB8AC3E}">
        <p14:creationId xmlns:p14="http://schemas.microsoft.com/office/powerpoint/2010/main" val="15219155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2EB951-0C7E-4DCB-B0ED-9DEB185C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一个最小示例：每 5 分钟写一条心跳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0ACA5CA-F853-44AB-B8D7-91F2EA59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F168A979-92D4-4A71-901C-CC63545D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4" name="sample-code-panel">
            <a:extLst xmlns:a="http://schemas.openxmlformats.org/drawingml/2006/main">
              <a:ext uri="{FF2B5EF4-FFF2-40B4-BE49-F238E27FC236}">
                <a16:creationId xmlns:a16="http://schemas.microsoft.com/office/drawing/2014/main" id="{084F854B-EF04-4D02-B58A-C867B646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14450"/>
            <a:ext cx="5943600" cy="42291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5" name="sample-code">
            <a:extLst xmlns:a="http://schemas.openxmlformats.org/drawingml/2006/main">
              <a:ext uri="{FF2B5EF4-FFF2-40B4-BE49-F238E27FC236}">
                <a16:creationId xmlns:a16="http://schemas.microsoft.com/office/drawing/2014/main" id="{2A676272-887E-4C7C-B644-EA904C4B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715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&lt;?xml version="1.0" encoding="UTF-8"?&gt;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&lt;!DOCTYPE plist PUBLIC "-//Apple//DTD PLIST 1.0//EN"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"http://www.apple.com/DTDs/PropertyList-1.0.dtd"&gt;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&lt;plist version="1.0"&gt;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&lt;dict&gt;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&lt;key&gt;Label&lt;/key&gt;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&lt;string&gt;com.example.heartbeat&lt;/string&gt;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&lt;key&gt;ProgramArguments&lt;/key&gt;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&lt;array&gt;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  &lt;string&gt;/bin/sh&lt;/string&gt;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  &lt;string&gt;/Users/me/bin/beat.sh&lt;/string&gt;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&lt;/array&gt;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&lt;key&gt;StartInterval&lt;/key&gt;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&lt;integer&gt;300&lt;/integer&gt;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&lt;key&gt;StandardOutPath&lt;/key&gt;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&lt;string&gt;/tmp/beat.log&lt;/string&gt;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&lt;/dict&gt;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&lt;/plist&gt;</a:t>
            </a:r>
          </a:p>
        </p:txBody>
      </p:sp>
      <p:sp>
        <p:nvSpPr>
          <p:cNvPr id="6" name="sample-explain-title-0">
            <a:extLst xmlns:a="http://schemas.openxmlformats.org/drawingml/2006/main">
              <a:ext uri="{FF2B5EF4-FFF2-40B4-BE49-F238E27FC236}">
                <a16:creationId xmlns:a16="http://schemas.microsoft.com/office/drawing/2014/main" id="{868C31F4-4A66-4439-8A2C-AEEB487D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28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Label</a:t>
            </a:r>
          </a:p>
        </p:txBody>
      </p:sp>
      <p:sp>
        <p:nvSpPr>
          <p:cNvPr id="7" name="sample-explain-body-0">
            <a:extLst xmlns:a="http://schemas.openxmlformats.org/drawingml/2006/main">
              <a:ext uri="{FF2B5EF4-FFF2-40B4-BE49-F238E27FC236}">
                <a16:creationId xmlns:a16="http://schemas.microsoft.com/office/drawing/2014/main" id="{40D4F6C5-2BF6-4CCF-9635-B1A23C4E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33550"/>
            <a:ext cx="480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唯一标识，通常写成 com.你的团队.任务名。</a:t>
            </a:r>
          </a:p>
        </p:txBody>
      </p:sp>
      <p:sp>
        <p:nvSpPr>
          <p:cNvPr id="8" name="sample-explain-title-1">
            <a:extLst xmlns:a="http://schemas.openxmlformats.org/drawingml/2006/main">
              <a:ext uri="{FF2B5EF4-FFF2-40B4-BE49-F238E27FC236}">
                <a16:creationId xmlns:a16="http://schemas.microsoft.com/office/drawing/2014/main" id="{EDFE3B88-E549-4137-8551-9B985B63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527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ProgramArguments</a:t>
            </a:r>
          </a:p>
        </p:txBody>
      </p:sp>
      <p:sp>
        <p:nvSpPr>
          <p:cNvPr id="9" name="sample-explain-body-1">
            <a:extLst xmlns:a="http://schemas.openxmlformats.org/drawingml/2006/main">
              <a:ext uri="{FF2B5EF4-FFF2-40B4-BE49-F238E27FC236}">
                <a16:creationId xmlns:a16="http://schemas.microsoft.com/office/drawing/2014/main" id="{BB8B736B-E0AC-465B-B6D8-DCE2CF15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57500"/>
            <a:ext cx="480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命令是一个数组：第一个元素是可执行文件，后面是参数。</a:t>
            </a:r>
          </a:p>
        </p:txBody>
      </p:sp>
      <p:sp>
        <p:nvSpPr>
          <p:cNvPr id="10" name="sample-explain-title-2">
            <a:extLst xmlns:a="http://schemas.openxmlformats.org/drawingml/2006/main">
              <a:ext uri="{FF2B5EF4-FFF2-40B4-BE49-F238E27FC236}">
                <a16:creationId xmlns:a16="http://schemas.microsoft.com/office/drawing/2014/main" id="{04371DB4-8C04-429C-8357-2CACDE91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766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StartInterval</a:t>
            </a:r>
          </a:p>
        </p:txBody>
      </p:sp>
      <p:sp>
        <p:nvSpPr>
          <p:cNvPr id="11" name="sample-explain-body-2">
            <a:extLst xmlns:a="http://schemas.openxmlformats.org/drawingml/2006/main">
              <a:ext uri="{FF2B5EF4-FFF2-40B4-BE49-F238E27FC236}">
                <a16:creationId xmlns:a16="http://schemas.microsoft.com/office/drawing/2014/main" id="{0818DB32-2CBE-4938-8521-24B2046D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480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300 表示每 300 秒执行一次；适合简单定时任务。</a:t>
            </a:r>
          </a:p>
        </p:txBody>
      </p:sp>
      <p:sp>
        <p:nvSpPr>
          <p:cNvPr id="12" name="sample-explain-title-3">
            <a:extLst xmlns:a="http://schemas.openxmlformats.org/drawingml/2006/main">
              <a:ext uri="{FF2B5EF4-FFF2-40B4-BE49-F238E27FC236}">
                <a16:creationId xmlns:a16="http://schemas.microsoft.com/office/drawing/2014/main" id="{3E778585-AC76-41BB-8D01-96D46F87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006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StandardOutPath</a:t>
            </a:r>
          </a:p>
        </p:txBody>
      </p:sp>
      <p:sp>
        <p:nvSpPr>
          <p:cNvPr id="13" name="sample-explain-body-3">
            <a:extLst xmlns:a="http://schemas.openxmlformats.org/drawingml/2006/main">
              <a:ext uri="{FF2B5EF4-FFF2-40B4-BE49-F238E27FC236}">
                <a16:creationId xmlns:a16="http://schemas.microsoft.com/office/drawing/2014/main" id="{7927CB90-BF43-4850-9CE2-18F217AF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05400"/>
            <a:ext cx="480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把输出写到 /tmp/beat.log，出问题时才有迹可循。</a:t>
            </a:r>
          </a:p>
        </p:txBody>
      </p:sp>
    </p:spTree>
    <p:extLst>
      <p:ext uri="{BB962C8B-B14F-4D97-AF65-F5344CB8AC3E}">
        <p14:creationId xmlns:p14="http://schemas.microsoft.com/office/powerpoint/2010/main" val="19161597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42C840-39B5-46C7-AC08-BC6A8871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一次启动到底发生了什么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60EDAD2E-84BA-4865-B837-E697FF27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F06F559C-A112-4244-8797-402CC958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4" name="flow-caption">
            <a:extLst xmlns:a="http://schemas.openxmlformats.org/drawingml/2006/main">
              <a:ext uri="{FF2B5EF4-FFF2-40B4-BE49-F238E27FC236}">
                <a16:creationId xmlns:a16="http://schemas.microsoft.com/office/drawing/2014/main" id="{25C1032E-A76E-49B6-8C1E-B8E15140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从配置到运行，launchd 在幕后完成这些步骤：</a:t>
            </a:r>
          </a:p>
        </p:txBody>
      </p:sp>
      <p:sp>
        <p:nvSpPr>
          <p:cNvPr id="5" name="flow-node-1">
            <a:extLst xmlns:a="http://schemas.openxmlformats.org/drawingml/2006/main">
              <a:ext uri="{FF2B5EF4-FFF2-40B4-BE49-F238E27FC236}">
                <a16:creationId xmlns:a16="http://schemas.microsoft.com/office/drawing/2014/main" id="{E9EF575D-FF5F-479D-B4F7-F0F44354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905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6" name="flow-node-title-1">
            <a:extLst xmlns:a="http://schemas.openxmlformats.org/drawingml/2006/main">
              <a:ext uri="{FF2B5EF4-FFF2-40B4-BE49-F238E27FC236}">
                <a16:creationId xmlns:a16="http://schemas.microsoft.com/office/drawing/2014/main" id="{2EA6E0B6-D798-4456-9B93-9F8EB7E0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写入 plist</a:t>
            </a:r>
          </a:p>
        </p:txBody>
      </p:sp>
      <p:sp>
        <p:nvSpPr>
          <p:cNvPr id="7" name="flow-node-caption-1">
            <a:extLst xmlns:a="http://schemas.openxmlformats.org/drawingml/2006/main">
              <a:ext uri="{FF2B5EF4-FFF2-40B4-BE49-F238E27FC236}">
                <a16:creationId xmlns:a16="http://schemas.microsoft.com/office/drawing/2014/main" id="{C8BD698E-A4E1-44EA-9E87-2EFD7C2E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放到 ~/Library/LaunchAgents</a:t>
            </a:r>
          </a:p>
        </p:txBody>
      </p:sp>
      <p:sp>
        <p:nvSpPr>
          <p:cNvPr id="8" name="flow-node-2">
            <a:extLst xmlns:a="http://schemas.openxmlformats.org/drawingml/2006/main">
              <a:ext uri="{FF2B5EF4-FFF2-40B4-BE49-F238E27FC236}">
                <a16:creationId xmlns:a16="http://schemas.microsoft.com/office/drawing/2014/main" id="{100FCBFA-C124-425C-A72A-C3190330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95550"/>
            <a:ext cx="1905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9" name="flow-node-title-2">
            <a:extLst xmlns:a="http://schemas.openxmlformats.org/drawingml/2006/main">
              <a:ext uri="{FF2B5EF4-FFF2-40B4-BE49-F238E27FC236}">
                <a16:creationId xmlns:a16="http://schemas.microsoft.com/office/drawing/2014/main" id="{900CD041-A2DE-4CD1-BC4F-928D6D71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launchd 装载</a:t>
            </a:r>
          </a:p>
        </p:txBody>
      </p:sp>
      <p:sp>
        <p:nvSpPr>
          <p:cNvPr id="10" name="flow-node-caption-2">
            <a:extLst xmlns:a="http://schemas.openxmlformats.org/drawingml/2006/main">
              <a:ext uri="{FF2B5EF4-FFF2-40B4-BE49-F238E27FC236}">
                <a16:creationId xmlns:a16="http://schemas.microsoft.com/office/drawing/2014/main" id="{67FAC1BC-5CC4-46DE-BDC8-FC172AD3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099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bootstrap 注册 job</a:t>
            </a:r>
          </a:p>
        </p:txBody>
      </p:sp>
      <p:sp>
        <p:nvSpPr>
          <p:cNvPr id="11" name="flow-node-3">
            <a:extLst xmlns:a="http://schemas.openxmlformats.org/drawingml/2006/main">
              <a:ext uri="{FF2B5EF4-FFF2-40B4-BE49-F238E27FC236}">
                <a16:creationId xmlns:a16="http://schemas.microsoft.com/office/drawing/2014/main" id="{B058FEBA-42ED-4519-8359-5026BEE0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95550"/>
            <a:ext cx="1905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2" name="flow-node-title-3">
            <a:extLst xmlns:a="http://schemas.openxmlformats.org/drawingml/2006/main">
              <a:ext uri="{FF2B5EF4-FFF2-40B4-BE49-F238E27FC236}">
                <a16:creationId xmlns:a16="http://schemas.microsoft.com/office/drawing/2014/main" id="{10BD1C83-EF7A-4304-8A42-90758330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479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判断条件</a:t>
            </a:r>
          </a:p>
        </p:txBody>
      </p:sp>
      <p:sp>
        <p:nvSpPr>
          <p:cNvPr id="13" name="flow-node-caption-3">
            <a:extLst xmlns:a="http://schemas.openxmlformats.org/drawingml/2006/main">
              <a:ext uri="{FF2B5EF4-FFF2-40B4-BE49-F238E27FC236}">
                <a16:creationId xmlns:a16="http://schemas.microsoft.com/office/drawing/2014/main" id="{C42CA4D7-F78D-4114-9350-3F6608A3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99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RunAtLoad / 定时 / 事件</a:t>
            </a:r>
          </a:p>
        </p:txBody>
      </p:sp>
      <p:sp>
        <p:nvSpPr>
          <p:cNvPr id="14" name="flow-node-4">
            <a:extLst xmlns:a="http://schemas.openxmlformats.org/drawingml/2006/main">
              <a:ext uri="{FF2B5EF4-FFF2-40B4-BE49-F238E27FC236}">
                <a16:creationId xmlns:a16="http://schemas.microsoft.com/office/drawing/2014/main" id="{E8B2381C-224C-4958-83D1-A0B211C7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95550"/>
            <a:ext cx="1905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5" name="flow-node-title-4">
            <a:extLst xmlns:a="http://schemas.openxmlformats.org/drawingml/2006/main">
              <a:ext uri="{FF2B5EF4-FFF2-40B4-BE49-F238E27FC236}">
                <a16:creationId xmlns:a16="http://schemas.microsoft.com/office/drawing/2014/main" id="{1964053D-324B-48DC-835C-09FBD9E1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479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拉起进程</a:t>
            </a:r>
          </a:p>
        </p:txBody>
      </p:sp>
      <p:sp>
        <p:nvSpPr>
          <p:cNvPr id="16" name="flow-node-caption-4">
            <a:extLst xmlns:a="http://schemas.openxmlformats.org/drawingml/2006/main">
              <a:ext uri="{FF2B5EF4-FFF2-40B4-BE49-F238E27FC236}">
                <a16:creationId xmlns:a16="http://schemas.microsoft.com/office/drawing/2014/main" id="{97D0A358-77F8-4577-94E2-FCA5CE4D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099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按 ProgramArguments 执行</a:t>
            </a:r>
          </a:p>
        </p:txBody>
      </p:sp>
      <p:sp>
        <p:nvSpPr>
          <p:cNvPr id="17" name="flow-node-5">
            <a:extLst xmlns:a="http://schemas.openxmlformats.org/drawingml/2006/main">
              <a:ext uri="{FF2B5EF4-FFF2-40B4-BE49-F238E27FC236}">
                <a16:creationId xmlns:a16="http://schemas.microsoft.com/office/drawing/2014/main" id="{536D86EE-7D58-4390-9D76-03DED351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95550"/>
            <a:ext cx="1905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8" name="flow-node-title-5">
            <a:extLst xmlns:a="http://schemas.openxmlformats.org/drawingml/2006/main">
              <a:ext uri="{FF2B5EF4-FFF2-40B4-BE49-F238E27FC236}">
                <a16:creationId xmlns:a16="http://schemas.microsoft.com/office/drawing/2014/main" id="{327720B2-6E73-49B5-9DE2-3C1E6F7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479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运行与收尾</a:t>
            </a:r>
          </a:p>
        </p:txBody>
      </p:sp>
      <p:sp>
        <p:nvSpPr>
          <p:cNvPr id="19" name="flow-node-caption-5">
            <a:extLst xmlns:a="http://schemas.openxmlformats.org/drawingml/2006/main">
              <a:ext uri="{FF2B5EF4-FFF2-40B4-BE49-F238E27FC236}">
                <a16:creationId xmlns:a16="http://schemas.microsoft.com/office/drawing/2014/main" id="{7BA450A6-1A6A-44BE-9080-247390D9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099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写日志，退出或重启</a:t>
            </a:r>
          </a:p>
        </p:txBody>
      </p:sp>
      <p:cxnSp>
        <p:nvCxnSpPr>
          <p:cNvPr id="45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14600" y="30289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cxnSp>
        <p:nvCxnSpPr>
          <p:cNvPr id="46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43450" y="30289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cxnSp>
        <p:nvCxnSpPr>
          <p:cNvPr id="47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972300" y="30289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cxnSp>
        <p:nvCxnSpPr>
          <p:cNvPr id="48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01150" y="30289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sp>
        <p:nvSpPr>
          <p:cNvPr id="24" name="flow-note-panel">
            <a:extLst xmlns:a="http://schemas.openxmlformats.org/drawingml/2006/main">
              <a:ext uri="{FF2B5EF4-FFF2-40B4-BE49-F238E27FC236}">
                <a16:creationId xmlns:a16="http://schemas.microsoft.com/office/drawing/2014/main" id="{CB4D23B6-3112-42E9-A187-1BA8588A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5" name="flow-note">
            <a:extLst xmlns:a="http://schemas.openxmlformats.org/drawingml/2006/main">
              <a:ext uri="{FF2B5EF4-FFF2-40B4-BE49-F238E27FC236}">
                <a16:creationId xmlns:a16="http://schemas.microsoft.com/office/drawing/2014/main" id="{199347AC-C162-4B19-A02E-E8F815B7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1051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2B4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2B45"/>
                </a:solidFill>
                <a:latin typeface="PingFang SC"/>
                <a:ea typeface="PingFang SC"/>
                <a:cs typeface="PingFang SC"/>
              </a:rPr>
              <a:t>装载不等于运行：只有 RunAtLoad、KeepAlive 或某个触发条件满足时，launchd 才真正启动进程。</a:t>
            </a:r>
          </a:p>
        </p:txBody>
      </p:sp>
    </p:spTree>
    <p:extLst>
      <p:ext uri="{BB962C8B-B14F-4D97-AF65-F5344CB8AC3E}">
        <p14:creationId xmlns:p14="http://schemas.microsoft.com/office/powerpoint/2010/main" val="72799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C94FA5-B3C7-477D-973F-0EF4174B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用 launchctl 装载、检查、重跑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859163D2-06CB-46C6-A017-5E7B8E6F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942EF836-A9E4-4A7E-985D-3D34D700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commands-left-title">
            <a:extLst xmlns:a="http://schemas.openxmlformats.org/drawingml/2006/main">
              <a:ext uri="{FF2B5EF4-FFF2-40B4-BE49-F238E27FC236}">
                <a16:creationId xmlns:a16="http://schemas.microsoft.com/office/drawing/2014/main" id="{C1CCB829-1399-412A-99A4-365CF4B9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装载与卸载</a:t>
            </a:r>
          </a:p>
        </p:txBody>
      </p:sp>
      <p:sp>
        <p:nvSpPr>
          <p:cNvPr id="5" name="commands-left-code-panel">
            <a:extLst xmlns:a="http://schemas.openxmlformats.org/drawingml/2006/main">
              <a:ext uri="{FF2B5EF4-FFF2-40B4-BE49-F238E27FC236}">
                <a16:creationId xmlns:a16="http://schemas.microsoft.com/office/drawing/2014/main" id="{6B161AF4-0D36-4E3C-BE75-27C5AF1E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53721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6" name="commands-left-code">
            <a:extLst xmlns:a="http://schemas.openxmlformats.org/drawingml/2006/main">
              <a:ext uri="{FF2B5EF4-FFF2-40B4-BE49-F238E27FC236}">
                <a16:creationId xmlns:a16="http://schemas.microsoft.com/office/drawing/2014/main" id="{21E89772-A9A0-459D-A7A4-5B23117C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43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launchctl bootstrap gui/$(id -u) \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~/Library/LaunchAgents/com.example.heartbeat.plist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launchctl bootout gui/$(id -u)/com.example.heartbeat</a:t>
            </a:r>
          </a:p>
        </p:txBody>
      </p:sp>
      <p:sp>
        <p:nvSpPr>
          <p:cNvPr id="7" name="commands-left-note">
            <a:extLst xmlns:a="http://schemas.openxmlformats.org/drawingml/2006/main">
              <a:ext uri="{FF2B5EF4-FFF2-40B4-BE49-F238E27FC236}">
                <a16:creationId xmlns:a16="http://schemas.microsoft.com/office/drawing/2014/main" id="{E7E234C7-2328-428A-8EE0-B9BFC88B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514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现代写法用 bootstrap / bootout；旧的 load / unload 不推荐再用于日常管理。</a:t>
            </a:r>
          </a:p>
        </p:txBody>
      </p:sp>
      <p:sp>
        <p:nvSpPr>
          <p:cNvPr id="8" name="commands-right-title">
            <a:extLst xmlns:a="http://schemas.openxmlformats.org/drawingml/2006/main">
              <a:ext uri="{FF2B5EF4-FFF2-40B4-BE49-F238E27FC236}">
                <a16:creationId xmlns:a16="http://schemas.microsoft.com/office/drawing/2014/main" id="{B05B3AC5-52AE-4761-8FDE-19AACCC4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检查与重跑</a:t>
            </a:r>
          </a:p>
        </p:txBody>
      </p:sp>
      <p:sp>
        <p:nvSpPr>
          <p:cNvPr id="9" name="commands-right-code-panel">
            <a:extLst xmlns:a="http://schemas.openxmlformats.org/drawingml/2006/main">
              <a:ext uri="{FF2B5EF4-FFF2-40B4-BE49-F238E27FC236}">
                <a16:creationId xmlns:a16="http://schemas.microsoft.com/office/drawing/2014/main" id="{59DCE267-E320-42A2-8210-49C2D42A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3721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10" name="commands-right-code">
            <a:extLst xmlns:a="http://schemas.openxmlformats.org/drawingml/2006/main">
              <a:ext uri="{FF2B5EF4-FFF2-40B4-BE49-F238E27FC236}">
                <a16:creationId xmlns:a16="http://schemas.microsoft.com/office/drawing/2014/main" id="{3BFB86E0-1E95-4573-8390-5A213471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24050"/>
            <a:ext cx="5143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launchctl print gui/$(id -u)/com.example.heartbeat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launchctl kickstart -k gui/$(id -u)/com.example.heartbeat</a:t>
            </a:r>
          </a:p>
        </p:txBody>
      </p:sp>
      <p:sp>
        <p:nvSpPr>
          <p:cNvPr id="11" name="commands-right-note">
            <a:extLst xmlns:a="http://schemas.openxmlformats.org/drawingml/2006/main">
              <a:ext uri="{FF2B5EF4-FFF2-40B4-BE49-F238E27FC236}">
                <a16:creationId xmlns:a16="http://schemas.microsoft.com/office/drawing/2014/main" id="{55535FDB-AC16-409A-8AED-17A6EC9F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514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print 看状态与上次退出码；kickstart -k 先结束旧进程再立即启动，适合验证改动。</a:t>
            </a:r>
          </a:p>
        </p:txBody>
      </p:sp>
    </p:spTree>
    <p:extLst>
      <p:ext uri="{BB962C8B-B14F-4D97-AF65-F5344CB8AC3E}">
        <p14:creationId xmlns:p14="http://schemas.microsoft.com/office/powerpoint/2010/main" val="18998766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5CB816-5B41-47AE-A0B2-789C999E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什么时候跑，由这些条件决定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BDA4F779-CBD3-4E4F-A265-BFFBB8C2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605C4EA8-6930-45CD-87C6-08EEABDC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triggers-left-title">
            <a:extLst xmlns:a="http://schemas.openxmlformats.org/drawingml/2006/main">
              <a:ext uri="{FF2B5EF4-FFF2-40B4-BE49-F238E27FC236}">
                <a16:creationId xmlns:a16="http://schemas.microsoft.com/office/drawing/2014/main" id="{BD09CB93-EB82-4808-B6C7-C8475B38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按时间</a:t>
            </a:r>
          </a:p>
        </p:txBody>
      </p:sp>
      <p:sp>
        <p:nvSpPr>
          <p:cNvPr id="5" name="triggers-left-body">
            <a:extLst xmlns:a="http://schemas.openxmlformats.org/drawingml/2006/main">
              <a:ext uri="{FF2B5EF4-FFF2-40B4-BE49-F238E27FC236}">
                <a16:creationId xmlns:a16="http://schemas.microsoft.com/office/drawing/2014/main" id="{8309A0DD-3118-45E8-AC97-57377B9E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143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30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RunAtLoad：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装载后立即执行一次，适合登录时初始化</a:t>
            </a:r>
          </a:p>
          <a:p xmlns:a="http://schemas.openxmlformats.org/drawingml/2006/main">
            <a:pPr marL="22" indent="-12" algn="l">
              <a:lnSpc>
                <a:spcPct val="130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StartInterval：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每 N 秒执行一次，简单但不够省电</a:t>
            </a:r>
          </a:p>
          <a:p xmlns:a="http://schemas.openxmlformats.org/drawingml/2006/main">
            <a:pPr marL="22" indent="-12" algn="l">
              <a:lnSpc>
                <a:spcPct val="130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StartCalendarInterval：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像 cron 一样按日历触发，如每天 03:00</a:t>
            </a:r>
          </a:p>
        </p:txBody>
      </p:sp>
      <p:sp>
        <p:nvSpPr>
          <p:cNvPr id="6" name="triggers-right-title">
            <a:extLst xmlns:a="http://schemas.openxmlformats.org/drawingml/2006/main">
              <a:ext uri="{FF2B5EF4-FFF2-40B4-BE49-F238E27FC236}">
                <a16:creationId xmlns:a16="http://schemas.microsoft.com/office/drawing/2014/main" id="{D4814A43-C9AF-440D-BA1C-FA70078B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按事件</a:t>
            </a:r>
          </a:p>
        </p:txBody>
      </p:sp>
      <p:sp>
        <p:nvSpPr>
          <p:cNvPr id="7" name="triggers-right-body">
            <a:extLst xmlns:a="http://schemas.openxmlformats.org/drawingml/2006/main">
              <a:ext uri="{FF2B5EF4-FFF2-40B4-BE49-F238E27FC236}">
                <a16:creationId xmlns:a16="http://schemas.microsoft.com/office/drawing/2014/main" id="{00DEF704-2EFD-439F-854A-25777BFD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5143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30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WatchPaths：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监听文件或目录变化后触发</a:t>
            </a:r>
          </a:p>
          <a:p xmlns:a="http://schemas.openxmlformats.org/drawingml/2006/main">
            <a:pPr marL="22" indent="-12" algn="l">
              <a:lnSpc>
                <a:spcPct val="130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Sockets：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有网络连接时按需启动服务</a:t>
            </a:r>
          </a:p>
          <a:p xmlns:a="http://schemas.openxmlformats.org/drawingml/2006/main">
            <a:pPr marL="22" indent="-12" algn="l">
              <a:lnSpc>
                <a:spcPct val="130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KeepAlive：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常驻、异常退出后重启，使用要克制</a:t>
            </a:r>
          </a:p>
        </p:txBody>
      </p:sp>
      <p:sp>
        <p:nvSpPr>
          <p:cNvPr id="8" name="triggers-note">
            <a:extLst xmlns:a="http://schemas.openxmlformats.org/drawingml/2006/main">
              <a:ext uri="{FF2B5EF4-FFF2-40B4-BE49-F238E27FC236}">
                <a16:creationId xmlns:a16="http://schemas.microsoft.com/office/drawing/2014/main" id="{B4D93C5F-9B3F-4914-9D70-6400C760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优先用明确条件；能用定时或事件触发，就不要盲目 KeepAlive=true。</a:t>
            </a:r>
          </a:p>
        </p:txBody>
      </p:sp>
    </p:spTree>
    <p:extLst>
      <p:ext uri="{BB962C8B-B14F-4D97-AF65-F5344CB8AC3E}">
        <p14:creationId xmlns:p14="http://schemas.microsoft.com/office/powerpoint/2010/main" val="7304447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CBC691-E96E-4BC1-8414-7CCE0EAB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守护进程管理：LaunchDaemon 怎么管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39560D02-BCB4-4599-971B-AF2B4032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91625F8B-6AB0-466A-BFB1-CC9545DE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" name="daemon-mgmt-left-title">
            <a:extLst xmlns:a="http://schemas.openxmlformats.org/drawingml/2006/main">
              <a:ext uri="{FF2B5EF4-FFF2-40B4-BE49-F238E27FC236}">
                <a16:creationId xmlns:a16="http://schemas.microsoft.com/office/drawing/2014/main" id="{D67084FC-F21E-4BEE-B295-CE057282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与 Agent 的区别</a:t>
            </a:r>
          </a:p>
        </p:txBody>
      </p:sp>
      <p:sp>
        <p:nvSpPr>
          <p:cNvPr id="5" name="daemon-mgmt-left-body">
            <a:extLst xmlns:a="http://schemas.openxmlformats.org/drawingml/2006/main">
              <a:ext uri="{FF2B5EF4-FFF2-40B4-BE49-F238E27FC236}">
                <a16:creationId xmlns:a16="http://schemas.microsoft.com/office/drawing/2014/main" id="{2145CCB7-F7BF-41AF-8F90-0E217B5E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32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系统级运行：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通常 root，或由 UserName 指定用户</a:t>
            </a:r>
          </a:p>
          <a:p xmlns:a="http://schemas.openxmlformats.org/drawingml/2006/main">
            <a:pPr marL="22" indent="-12" algn="l">
              <a:lnSpc>
                <a:spcPct val="132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不能显示 UI：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无法连接窗口服务器</a:t>
            </a:r>
          </a:p>
          <a:p xmlns:a="http://schemas.openxmlformats.org/drawingml/2006/main">
            <a:pPr marL="22" indent="-12" algn="l">
              <a:lnSpc>
                <a:spcPct val="132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目录不同：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/Library/LaunchDaemons、/System/Library/LaunchDaemons</a:t>
            </a:r>
          </a:p>
        </p:txBody>
      </p:sp>
      <p:sp>
        <p:nvSpPr>
          <p:cNvPr id="6" name="daemon-mgmt-right-title">
            <a:extLst xmlns:a="http://schemas.openxmlformats.org/drawingml/2006/main">
              <a:ext uri="{FF2B5EF4-FFF2-40B4-BE49-F238E27FC236}">
                <a16:creationId xmlns:a16="http://schemas.microsoft.com/office/drawing/2014/main" id="{6BCB13FC-B6FE-444A-A4CC-861FED86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常用管理命令</a:t>
            </a:r>
          </a:p>
        </p:txBody>
      </p:sp>
      <p:sp>
        <p:nvSpPr>
          <p:cNvPr id="7" name="daemon-mgmt-code-panel">
            <a:extLst xmlns:a="http://schemas.openxmlformats.org/drawingml/2006/main">
              <a:ext uri="{FF2B5EF4-FFF2-40B4-BE49-F238E27FC236}">
                <a16:creationId xmlns:a16="http://schemas.microsoft.com/office/drawing/2014/main" id="{56AB35D7-D4A9-4092-89F8-203FB687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3721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7CBD1"/>
            </a:solidFill>
            <a:prstDash val="solid"/>
          </a:ln>
        </p:spPr>
      </p:sp>
      <p:sp>
        <p:nvSpPr>
          <p:cNvPr id="8" name="daemon-mgmt-code">
            <a:extLst xmlns:a="http://schemas.openxmlformats.org/drawingml/2006/main">
              <a:ext uri="{FF2B5EF4-FFF2-40B4-BE49-F238E27FC236}">
                <a16:creationId xmlns:a16="http://schemas.microsoft.com/office/drawing/2014/main" id="{4B211AD3-8B09-4491-A457-D634201A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24050"/>
            <a:ext cx="514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sudo launchctl bootstrap system \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/Library/LaunchDaemons/com.example.daemon.plist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sudo launchctl bootout system/com.example.daemon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sudo launchctl print system/com.example.daemon</a:t>
            </a:r>
          </a:p>
        </p:txBody>
      </p:sp>
      <p:sp>
        <p:nvSpPr>
          <p:cNvPr id="9" name="daemon-mgmt-note-panel">
            <a:extLst xmlns:a="http://schemas.openxmlformats.org/drawingml/2006/main">
              <a:ext uri="{FF2B5EF4-FFF2-40B4-BE49-F238E27FC236}">
                <a16:creationId xmlns:a16="http://schemas.microsoft.com/office/drawing/2014/main" id="{A122274F-8FFD-4C51-AABE-DBA17B10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daemon-mgmt-note">
            <a:extLst xmlns:a="http://schemas.openxmlformats.org/drawingml/2006/main">
              <a:ext uri="{FF2B5EF4-FFF2-40B4-BE49-F238E27FC236}">
                <a16:creationId xmlns:a16="http://schemas.microsoft.com/office/drawing/2014/main" id="{B56DD3CD-65B1-46D6-8E57-F3073FAF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1051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2B4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2B45"/>
                </a:solidFill>
                <a:latin typeface="PingFang SC"/>
                <a:ea typeface="PingFang SC"/>
                <a:cs typeface="PingFang SC"/>
              </a:rPr>
              <a:t>Daemon plist 应属 root:wheel，且不允许组或其他用户可写；修改前先备份。</a:t>
            </a:r>
          </a:p>
        </p:txBody>
      </p:sp>
    </p:spTree>
    <p:extLst>
      <p:ext uri="{BB962C8B-B14F-4D97-AF65-F5344CB8AC3E}">
        <p14:creationId xmlns:p14="http://schemas.microsoft.com/office/powerpoint/2010/main" val="5051406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12BE02-B163-493A-9F66-09D16773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从手动脚本到 LaunchAgent 的五步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3984C8A-52BB-481F-94F4-E7D10326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3D2485AA-D04D-4848-A4FE-3738DF17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229100"/>
        </p:xfrm>
        <a:graphic xmlns:a="http://schemas.openxmlformats.org/drawingml/2006/main">
          <a:graphicData uri="http://schemas.openxmlformats.org/drawingml/2006/table">
            <a:tbl>
              <a:tblPr firstRow="1" firstCol="0" bandRow="0"/>
              <a:tblGrid>
                <a:gridCol w="762000"/>
                <a:gridCol w="2952750"/>
                <a:gridCol w="7258050"/>
              </a:tblGrid>
              <a:tr h="495300">
                <a:tc>
                  <a:txBody>
                    <a:bodyPr lIns="114300" tIns="57150" rIns="114300" bIns="57150"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步骤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动作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命令 / 文件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  <a:tr h="72390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写脚本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~/bin/cleanup.sh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加执行权限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chmod +x ~/bin/cleanup.sh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</a:tr>
              <a:tr h="72390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~/Library/LaunchAgents/com.example.cleanup.plist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装载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launchctl bootstrap gui/$(id -u) ~/Library/LaunchAgents/com.example.cleanup.plist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</a:tr>
              <a:tr h="72390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验证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Menlo"/>
                          <a:ea typeface="Menlo"/>
                          <a:cs typeface="Menlo"/>
                        </a:rPr>
                        <a:t>launchctl print gui/$(id -u)/com.example.cleanup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workflow-note">
            <a:extLst xmlns:a="http://schemas.openxmlformats.org/drawingml/2006/main">
              <a:ext uri="{FF2B5EF4-FFF2-40B4-BE49-F238E27FC236}">
                <a16:creationId xmlns:a16="http://schemas.microsoft.com/office/drawing/2014/main" id="{A84FB905-AAE0-453F-85C4-62D9742F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第 3 步写完后，先 plutil -lint 校验，再执行第 4 步装载。</a:t>
            </a:r>
          </a:p>
        </p:txBody>
      </p:sp>
    </p:spTree>
    <p:extLst>
      <p:ext uri="{BB962C8B-B14F-4D97-AF65-F5344CB8AC3E}">
        <p14:creationId xmlns:p14="http://schemas.microsoft.com/office/powerpoint/2010/main" val="10853621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94BB76-356D-4DE9-8224-968CE51D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任务没跑起来？按四步排查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32DEE5E8-57C6-45F0-BEC5-00DFC9FD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4">
            <a:extLst xmlns:a="http://schemas.openxmlformats.org/drawingml/2006/main">
              <a:ext uri="{FF2B5EF4-FFF2-40B4-BE49-F238E27FC236}">
                <a16:creationId xmlns:a16="http://schemas.microsoft.com/office/drawing/2014/main" id="{76206295-418E-4BA6-A152-5118A787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4" name="debug-left-title">
            <a:extLst xmlns:a="http://schemas.openxmlformats.org/drawingml/2006/main">
              <a:ext uri="{FF2B5EF4-FFF2-40B4-BE49-F238E27FC236}">
                <a16:creationId xmlns:a16="http://schemas.microsoft.com/office/drawing/2014/main" id="{9256E07D-0C6F-46DA-8A01-5938E7A4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先确认配置</a:t>
            </a:r>
          </a:p>
        </p:txBody>
      </p:sp>
      <p:sp>
        <p:nvSpPr>
          <p:cNvPr id="5" name="debug-left-body">
            <a:extLst xmlns:a="http://schemas.openxmlformats.org/drawingml/2006/main">
              <a:ext uri="{FF2B5EF4-FFF2-40B4-BE49-F238E27FC236}">
                <a16:creationId xmlns:a16="http://schemas.microsoft.com/office/drawing/2014/main" id="{DC3E511F-FC72-48AA-9E76-2368A836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143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35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1. 检查 plist 语法：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plutil -lint 文件.plist</a:t>
            </a:r>
          </a:p>
          <a:p xmlns:a="http://schemas.openxmlformats.org/drawingml/2006/main">
            <a:pPr marL="22" indent="-12" algn="l">
              <a:lnSpc>
                <a:spcPct val="135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2. 检查路径和权限：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用绝对路径，脚本要有执行权限</a:t>
            </a:r>
          </a:p>
        </p:txBody>
      </p:sp>
      <p:sp>
        <p:nvSpPr>
          <p:cNvPr id="6" name="debug-right-title">
            <a:extLst xmlns:a="http://schemas.openxmlformats.org/drawingml/2006/main">
              <a:ext uri="{FF2B5EF4-FFF2-40B4-BE49-F238E27FC236}">
                <a16:creationId xmlns:a16="http://schemas.microsoft.com/office/drawing/2014/main" id="{58CF629E-A75E-4829-A795-FC7E5B7C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再看运行</a:t>
            </a:r>
          </a:p>
        </p:txBody>
      </p:sp>
      <p:sp>
        <p:nvSpPr>
          <p:cNvPr id="7" name="debug-right-body">
            <a:extLst xmlns:a="http://schemas.openxmlformats.org/drawingml/2006/main">
              <a:ext uri="{FF2B5EF4-FFF2-40B4-BE49-F238E27FC236}">
                <a16:creationId xmlns:a16="http://schemas.microsoft.com/office/drawing/2014/main" id="{C0B5CD54-0EAB-4C7E-9AA5-5684BF89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5143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35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3. 看状态：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launchctl print gui/$(id -u)/标签</a:t>
            </a:r>
          </a:p>
          <a:p xmlns:a="http://schemas.openxmlformats.org/drawingml/2006/main">
            <a:pPr marL="22" indent="-12" algn="l">
              <a:lnSpc>
                <a:spcPct val="135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4. 强制重跑：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launchctl kickstart -k gui/$(id -u)/标签</a:t>
            </a:r>
          </a:p>
        </p:txBody>
      </p:sp>
      <p:sp>
        <p:nvSpPr>
          <p:cNvPr id="8" name="debug-tip-panel">
            <a:extLst xmlns:a="http://schemas.openxmlformats.org/drawingml/2006/main">
              <a:ext uri="{FF2B5EF4-FFF2-40B4-BE49-F238E27FC236}">
                <a16:creationId xmlns:a16="http://schemas.microsoft.com/office/drawing/2014/main" id="{0D4AB346-1BF3-451A-8D59-5466C621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debug-tip">
            <a:extLst xmlns:a="http://schemas.openxmlformats.org/drawingml/2006/main">
              <a:ext uri="{FF2B5EF4-FFF2-40B4-BE49-F238E27FC236}">
                <a16:creationId xmlns:a16="http://schemas.microsoft.com/office/drawing/2014/main" id="{84DE6228-4E7A-4208-8D93-5E2F07DD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1051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2B4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2B45"/>
                </a:solidFill>
                <a:latin typeface="PingFang SC"/>
                <a:ea typeface="PingFang SC"/>
                <a:cs typeface="PingFang SC"/>
              </a:rPr>
              <a:t>最有效的习惯：在 plist 里加 StandardOutPath / StandardErrorPath，出错时先看日志，而不是靠猜。</a:t>
            </a:r>
          </a:p>
        </p:txBody>
      </p:sp>
    </p:spTree>
    <p:extLst>
      <p:ext uri="{BB962C8B-B14F-4D97-AF65-F5344CB8AC3E}">
        <p14:creationId xmlns:p14="http://schemas.microsoft.com/office/powerpoint/2010/main" val="11332229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42003C-FF74-4E70-BB42-43E6AE7A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少踩坑：权限、日志与 KeepAlive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DA89FB39-3CD4-48F8-A94C-6838CAD4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5">
            <a:extLst xmlns:a="http://schemas.openxmlformats.org/drawingml/2006/main">
              <a:ext uri="{FF2B5EF4-FFF2-40B4-BE49-F238E27FC236}">
                <a16:creationId xmlns:a16="http://schemas.microsoft.com/office/drawing/2014/main" id="{FC697A5E-EFCE-4905-8085-11ADA980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4" name="pitfalls-left-title">
            <a:extLst xmlns:a="http://schemas.openxmlformats.org/drawingml/2006/main">
              <a:ext uri="{FF2B5EF4-FFF2-40B4-BE49-F238E27FC236}">
                <a16:creationId xmlns:a16="http://schemas.microsoft.com/office/drawing/2014/main" id="{7006E612-1A55-4B04-9469-F74835B2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常见坑</a:t>
            </a:r>
          </a:p>
        </p:txBody>
      </p:sp>
      <p:sp>
        <p:nvSpPr>
          <p:cNvPr id="5" name="pitfalls-left-body">
            <a:extLst xmlns:a="http://schemas.openxmlformats.org/drawingml/2006/main">
              <a:ext uri="{FF2B5EF4-FFF2-40B4-BE49-F238E27FC236}">
                <a16:creationId xmlns:a16="http://schemas.microsoft.com/office/drawing/2014/main" id="{8F28B98F-85E8-46C2-B64C-E33AF2E4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143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32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路径写 ~：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plist 里可能不展开，用绝对路径</a:t>
            </a:r>
          </a:p>
          <a:p xmlns:a="http://schemas.openxmlformats.org/drawingml/2006/main">
            <a:pPr marL="22" indent="-12" algn="l">
              <a:lnSpc>
                <a:spcPct val="132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KeepAlive 配 true：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快速退出的脚本容易 crash loop</a:t>
            </a:r>
          </a:p>
          <a:p xmlns:a="http://schemas.openxmlformats.org/drawingml/2006/main">
            <a:pPr marL="22" indent="-12" algn="l">
              <a:lnSpc>
                <a:spcPct val="132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忽略日志：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失败后没有现场，排查靠猜</a:t>
            </a:r>
          </a:p>
          <a:p xmlns:a="http://schemas.openxmlformats.org/drawingml/2006/main">
            <a:pPr marL="22" indent="-12" algn="l">
              <a:lnSpc>
                <a:spcPct val="132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权限不当：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个人 Agent 文件应避免组/其他用户可写</a:t>
            </a:r>
          </a:p>
        </p:txBody>
      </p:sp>
      <p:sp>
        <p:nvSpPr>
          <p:cNvPr id="6" name="pitfalls-right-title">
            <a:extLst xmlns:a="http://schemas.openxmlformats.org/drawingml/2006/main">
              <a:ext uri="{FF2B5EF4-FFF2-40B4-BE49-F238E27FC236}">
                <a16:creationId xmlns:a16="http://schemas.microsoft.com/office/drawing/2014/main" id="{D8031694-627A-497E-A8BD-C61029CD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建议</a:t>
            </a:r>
          </a:p>
        </p:txBody>
      </p:sp>
      <p:sp>
        <p:nvSpPr>
          <p:cNvPr id="7" name="pitfalls-right-body">
            <a:extLst xmlns:a="http://schemas.openxmlformats.org/drawingml/2006/main">
              <a:ext uri="{FF2B5EF4-FFF2-40B4-BE49-F238E27FC236}">
                <a16:creationId xmlns:a16="http://schemas.microsoft.com/office/drawing/2014/main" id="{2E53FEFD-6A91-4163-A06D-92CF94AC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5143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32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始终加日志：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StandardOutPath 和 StandardErrorPath</a:t>
            </a:r>
          </a:p>
          <a:p xmlns:a="http://schemas.openxmlformats.org/drawingml/2006/main">
            <a:pPr marL="22" indent="-12" algn="l">
              <a:lnSpc>
                <a:spcPct val="132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先校验：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plutil -lint 通过后再装载</a:t>
            </a:r>
          </a:p>
          <a:p xmlns:a="http://schemas.openxmlformats.org/drawingml/2006/main">
            <a:pPr marL="22" indent="-12" algn="l">
              <a:lnSpc>
                <a:spcPct val="132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条件要明确：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优先 RunAtLoad / StartInterval / Calendar</a:t>
            </a:r>
          </a:p>
          <a:p xmlns:a="http://schemas.openxmlformats.org/drawingml/2006/main">
            <a:pPr marL="22" indent="-12" algn="l">
              <a:lnSpc>
                <a:spcPct val="132000"/>
              </a:lnSpc>
              <a:spcAft>
                <a:spcPts val="12"/>
              </a:spcAft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用唯一 Label：</a:t>
            </a: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避免覆盖或混淆其他任务</a:t>
            </a:r>
          </a:p>
        </p:txBody>
      </p:sp>
    </p:spTree>
    <p:extLst>
      <p:ext uri="{BB962C8B-B14F-4D97-AF65-F5344CB8AC3E}">
        <p14:creationId xmlns:p14="http://schemas.microsoft.com/office/powerpoint/2010/main" val="15017033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DCB94D-88F3-4609-80A4-471D02A3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继续学习：官方文档与实用工具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BCBAC119-9C8A-4B2B-9DEF-83410D7A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6">
            <a:extLst xmlns:a="http://schemas.openxmlformats.org/drawingml/2006/main">
              <a:ext uri="{FF2B5EF4-FFF2-40B4-BE49-F238E27FC236}">
                <a16:creationId xmlns:a16="http://schemas.microsoft.com/office/drawing/2014/main" id="{0513F706-C1D9-4FDF-854B-6CB4799E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38600"/>
        </p:xfrm>
        <a:graphic xmlns:a="http://schemas.openxmlformats.org/drawingml/2006/main">
          <a:graphicData uri="http://schemas.openxmlformats.org/drawingml/2006/table">
            <a:tbl>
              <a:tblPr firstRow="1" firstCol="0" bandRow="0"/>
              <a:tblGrid>
                <a:gridCol w="3143250"/>
                <a:gridCol w="1809750"/>
                <a:gridCol w="6019800"/>
              </a:tblGrid>
              <a:tr h="495300">
                <a:tc>
                  <a:txBody>
                    <a:bodyPr lIns="114300" tIns="57150" rIns="114300" bIns="57150"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适合阶段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说明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  <a:tr h="70485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Apple Support: 使用 launchd 管理脚本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入门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目录与基本概念，有中文页面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Apple TN2083: Daemons and Agents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进阶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执行上下文、Agent/Daemon 常见坑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</a:tr>
              <a:tr h="70485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Apple: Daemons and Services Programming Guide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登录项、XPC、守护进程与代理设计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launchd.info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配置参考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快速查 key、示例与自动加载规则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</a:tr>
              <a:tr h="704850"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Lingon / LaunchControl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27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GUI 创建、管理和查看日志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sources-note">
            <a:extLst xmlns:a="http://schemas.openxmlformats.org/drawingml/2006/main">
              <a:ext uri="{FF2B5EF4-FFF2-40B4-BE49-F238E27FC236}">
                <a16:creationId xmlns:a16="http://schemas.microsoft.com/office/drawing/2014/main" id="{8F8A5AD2-AC3D-4C56-940E-0F08A1BC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遇到具体问题，先查 man launchd.plist 和 man launchctl，再到 Apple Developer Forums 搜索。</a:t>
            </a:r>
          </a:p>
        </p:txBody>
      </p:sp>
    </p:spTree>
    <p:extLst>
      <p:ext uri="{BB962C8B-B14F-4D97-AF65-F5344CB8AC3E}">
        <p14:creationId xmlns:p14="http://schemas.microsoft.com/office/powerpoint/2010/main" val="18671833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A2AF8821-9750-4D4B-B778-12C5B348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收尾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4F84CAD2-5A7B-422B-8645-C748FA66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下一次，先想想 launchd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4A82A164-CD7F-4980-AF14-6F254165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ing-body">
            <a:extLst xmlns:a="http://schemas.openxmlformats.org/drawingml/2006/main">
              <a:ext uri="{FF2B5EF4-FFF2-40B4-BE49-F238E27FC236}">
                <a16:creationId xmlns:a16="http://schemas.microsoft.com/office/drawing/2014/main" id="{39E1EB17-BAD6-49B4-876E-92394000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9048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65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会用 plist 描述任务：Label、命令、触发条件、日志。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65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会用 launchctl 管理：bootstrap、bootout、print、kickstart。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65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会排障：先 lint，再看状态与日志，最后强制重跑。</a:t>
            </a:r>
          </a:p>
        </p:txBody>
      </p:sp>
      <p:sp>
        <p:nvSpPr>
          <p:cNvPr id="5" name="closing-action">
            <a:extLst xmlns:a="http://schemas.openxmlformats.org/drawingml/2006/main">
              <a:ext uri="{FF2B5EF4-FFF2-40B4-BE49-F238E27FC236}">
                <a16:creationId xmlns:a16="http://schemas.microsoft.com/office/drawing/2014/main" id="{D591F409-21CB-40C1-8CEC-5737C58E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行动：选一个你常手动执行的重复动作，今天就用 LaunchAgent 跑通它。</a:t>
            </a:r>
          </a:p>
        </p:txBody>
      </p:sp>
    </p:spTree>
    <p:extLst>
      <p:ext uri="{BB962C8B-B14F-4D97-AF65-F5344CB8AC3E}">
        <p14:creationId xmlns:p14="http://schemas.microsoft.com/office/powerpoint/2010/main" val="363610458"/>
      </p:ext>
    </p:extLst>
  </p:cSld>
</p:sld>
</file>

<file path=ppt/theme/theme1.xml><?xml version="1.0" encoding="utf-8"?>
<a:theme xmlns:a="http://schemas.openxmlformats.org/drawingml/2006/main" name="ChatGPT">
  <a:themeElements>
    <a:clrScheme name="LaunchAgents Share">
      <a:dk1>
        <a:srgbClr val="000000"/>
      </a:dk1>
      <a:lt1>
        <a:srgbClr val="FFFFFF"/>
      </a:lt1>
      <a:dk2>
        <a:srgbClr val="111111"/>
      </a:dk2>
      <a:lt2>
        <a:srgbClr val="E5E7EB"/>
      </a:lt2>
      <a:accent1>
        <a:srgbClr val="3D8DFF"/>
      </a:accent1>
      <a:accent2>
        <a:srgbClr val="EAF5FB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D8DFF"/>
      </a:hlink>
      <a:folHlink>
        <a:srgbClr val="3D8D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aunchAgents Shar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2026-09-01T14:28:40.4910000Z</dcterms:created>
  <dcterms:modified xsi:type="dcterms:W3CDTF">2026-09-01T14:28:40.4910000Z</dcterms:modified>
</coreProperties>
</file>