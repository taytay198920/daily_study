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49e3e056ce4ae8" /><Relationship Type="http://schemas.openxmlformats.org/officeDocument/2006/relationships/extended-properties" Target="/docProps/app.xml" Id="Ra56e49c9e46d4527" /><Relationship Type="http://schemas.openxmlformats.org/officeDocument/2006/relationships/officeDocument" Target="/ppt/presentation.xml" Id="R6fb3c4dbd66a47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d91817c131475b"/>
  </p:sldMasterIdLst>
  <p:notesMasterIdLst>
    <p:notesMasterId xmlns:r="http://schemas.openxmlformats.org/officeDocument/2006/relationships" r:id="Rff7396b9f5e04922"/>
  </p:notesMasterIdLst>
  <p:sldIdLst>
    <p:sldId xmlns:r="http://schemas.openxmlformats.org/officeDocument/2006/relationships" id="256" r:id="Rc9009a23a8904ce7"/>
    <p:sldId xmlns:r="http://schemas.openxmlformats.org/officeDocument/2006/relationships" id="257" r:id="Rdc14be611c4849b6"/>
    <p:sldId xmlns:r="http://schemas.openxmlformats.org/officeDocument/2006/relationships" id="258" r:id="Ra02baa96e16444e4"/>
    <p:sldId xmlns:r="http://schemas.openxmlformats.org/officeDocument/2006/relationships" id="259" r:id="Rd98f86c8cc9f42a6"/>
    <p:sldId xmlns:r="http://schemas.openxmlformats.org/officeDocument/2006/relationships" id="260" r:id="Re9337f8f1d6e49f2"/>
    <p:sldId xmlns:r="http://schemas.openxmlformats.org/officeDocument/2006/relationships" id="261" r:id="R4d9e2d4816264ada"/>
    <p:sldId xmlns:r="http://schemas.openxmlformats.org/officeDocument/2006/relationships" id="262" r:id="R53a1df885b4444dd"/>
    <p:sldId xmlns:r="http://schemas.openxmlformats.org/officeDocument/2006/relationships" id="263" r:id="R62a76ec352d442ec"/>
    <p:sldId xmlns:r="http://schemas.openxmlformats.org/officeDocument/2006/relationships" id="264" r:id="R704da3775fec4210"/>
    <p:sldId xmlns:r="http://schemas.openxmlformats.org/officeDocument/2006/relationships" id="265" r:id="Rada3b75759684811"/>
    <p:sldId xmlns:r="http://schemas.openxmlformats.org/officeDocument/2006/relationships" id="266" r:id="R6ba0f4c9296d461d"/>
    <p:sldId xmlns:r="http://schemas.openxmlformats.org/officeDocument/2006/relationships" id="267" r:id="R79f22c10d96d46d3"/>
    <p:sldId xmlns:r="http://schemas.openxmlformats.org/officeDocument/2006/relationships" id="268" r:id="R2afb76eb12e14225"/>
    <p:sldId xmlns:r="http://schemas.openxmlformats.org/officeDocument/2006/relationships" id="269" r:id="Re1dd0f037c8748a1"/>
    <p:sldId xmlns:r="http://schemas.openxmlformats.org/officeDocument/2006/relationships" id="270" r:id="R46f27db3a2f0419e"/>
    <p:sldId xmlns:r="http://schemas.openxmlformats.org/officeDocument/2006/relationships" id="271" r:id="R8afa65a0415e46ec"/>
    <p:sldId xmlns:r="http://schemas.openxmlformats.org/officeDocument/2006/relationships" id="272" r:id="R07a05a429c1a4f1b"/>
    <p:sldId xmlns:r="http://schemas.openxmlformats.org/officeDocument/2006/relationships" id="273" r:id="R01e93a76f3f049a2"/>
    <p:sldId xmlns:r="http://schemas.openxmlformats.org/officeDocument/2006/relationships" id="274" r:id="R8f4ed3e67c344d09"/>
    <p:sldId xmlns:r="http://schemas.openxmlformats.org/officeDocument/2006/relationships" id="275" r:id="R9b4891a9403a482d"/>
    <p:sldId xmlns:r="http://schemas.openxmlformats.org/officeDocument/2006/relationships" id="276" r:id="Rde89d9171d8743c3"/>
    <p:sldId xmlns:r="http://schemas.openxmlformats.org/officeDocument/2006/relationships" id="277" r:id="R8bcf353c35514bc4"/>
    <p:sldId xmlns:r="http://schemas.openxmlformats.org/officeDocument/2006/relationships" id="278" r:id="Ra09e393e99904498"/>
    <p:sldId xmlns:r="http://schemas.openxmlformats.org/officeDocument/2006/relationships" id="279" r:id="Rd760f81282fd4175"/>
    <p:sldId xmlns:r="http://schemas.openxmlformats.org/officeDocument/2006/relationships" id="280" r:id="Re2229ff2551344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51cfde492c4255" /><Relationship Type="http://schemas.openxmlformats.org/officeDocument/2006/relationships/slideMaster" Target="/ppt/slideMasters/slideMaster1.xml" Id="Redd91817c131475b" /><Relationship Type="http://schemas.openxmlformats.org/officeDocument/2006/relationships/notesMaster" Target="/ppt/notesMasters/notesMaster1.xml" Id="Rff7396b9f5e04922" /><Relationship Type="http://schemas.openxmlformats.org/officeDocument/2006/relationships/presProps" Target="/ppt/presProps.xml" Id="R72ee881826f243d1" /><Relationship Type="http://schemas.openxmlformats.org/officeDocument/2006/relationships/tableStyles" Target="/ppt/tableStyles.xml" Id="Ra61ad04d89c245d9" /><Relationship Type="http://schemas.openxmlformats.org/officeDocument/2006/relationships/slide" Target="/ppt/slides/slide1.xml" Id="Rc9009a23a8904ce7" /><Relationship Type="http://schemas.openxmlformats.org/officeDocument/2006/relationships/slide" Target="/ppt/slides/slide2.xml" Id="Rdc14be611c4849b6" /><Relationship Type="http://schemas.openxmlformats.org/officeDocument/2006/relationships/slide" Target="/ppt/slides/slide3.xml" Id="Ra02baa96e16444e4" /><Relationship Type="http://schemas.openxmlformats.org/officeDocument/2006/relationships/slide" Target="/ppt/slides/slide4.xml" Id="Rd98f86c8cc9f42a6" /><Relationship Type="http://schemas.openxmlformats.org/officeDocument/2006/relationships/slide" Target="/ppt/slides/slide5.xml" Id="Re9337f8f1d6e49f2" /><Relationship Type="http://schemas.openxmlformats.org/officeDocument/2006/relationships/slide" Target="/ppt/slides/slide6.xml" Id="R4d9e2d4816264ada" /><Relationship Type="http://schemas.openxmlformats.org/officeDocument/2006/relationships/slide" Target="/ppt/slides/slide7.xml" Id="R53a1df885b4444dd" /><Relationship Type="http://schemas.openxmlformats.org/officeDocument/2006/relationships/slide" Target="/ppt/slides/slide8.xml" Id="R62a76ec352d442ec" /><Relationship Type="http://schemas.openxmlformats.org/officeDocument/2006/relationships/slide" Target="/ppt/slides/slide9.xml" Id="R704da3775fec4210" /><Relationship Type="http://schemas.openxmlformats.org/officeDocument/2006/relationships/slide" Target="/ppt/slides/slide10.xml" Id="Rada3b75759684811" /><Relationship Type="http://schemas.openxmlformats.org/officeDocument/2006/relationships/slide" Target="/ppt/slides/slide11.xml" Id="R6ba0f4c9296d461d" /><Relationship Type="http://schemas.openxmlformats.org/officeDocument/2006/relationships/slide" Target="/ppt/slides/slide12.xml" Id="R79f22c10d96d46d3" /><Relationship Type="http://schemas.openxmlformats.org/officeDocument/2006/relationships/slide" Target="/ppt/slides/slide13.xml" Id="R2afb76eb12e14225" /><Relationship Type="http://schemas.openxmlformats.org/officeDocument/2006/relationships/slide" Target="/ppt/slides/slide14.xml" Id="Re1dd0f037c8748a1" /><Relationship Type="http://schemas.openxmlformats.org/officeDocument/2006/relationships/slide" Target="/ppt/slides/slide15.xml" Id="R46f27db3a2f0419e" /><Relationship Type="http://schemas.openxmlformats.org/officeDocument/2006/relationships/slide" Target="/ppt/slides/slide16.xml" Id="R8afa65a0415e46ec" /><Relationship Type="http://schemas.openxmlformats.org/officeDocument/2006/relationships/slide" Target="/ppt/slides/slide17.xml" Id="R07a05a429c1a4f1b" /><Relationship Type="http://schemas.openxmlformats.org/officeDocument/2006/relationships/slide" Target="/ppt/slides/slide18.xml" Id="R01e93a76f3f049a2" /><Relationship Type="http://schemas.openxmlformats.org/officeDocument/2006/relationships/slide" Target="/ppt/slides/slide19.xml" Id="R8f4ed3e67c344d09" /><Relationship Type="http://schemas.openxmlformats.org/officeDocument/2006/relationships/slide" Target="/ppt/slides/slide20.xml" Id="R9b4891a9403a482d" /><Relationship Type="http://schemas.openxmlformats.org/officeDocument/2006/relationships/slide" Target="/ppt/slides/slide21.xml" Id="Rde89d9171d8743c3" /><Relationship Type="http://schemas.openxmlformats.org/officeDocument/2006/relationships/slide" Target="/ppt/slides/slide22.xml" Id="R8bcf353c35514bc4" /><Relationship Type="http://schemas.openxmlformats.org/officeDocument/2006/relationships/slide" Target="/ppt/slides/slide23.xml" Id="Ra09e393e99904498" /><Relationship Type="http://schemas.openxmlformats.org/officeDocument/2006/relationships/slide" Target="/ppt/slides/slide24.xml" Id="Rd760f81282fd4175" /><Relationship Type="http://schemas.openxmlformats.org/officeDocument/2006/relationships/slide" Target="/ppt/slides/slide25.xml" Id="Re2229ff2551344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83f4fa520e47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LaunchAgents Share">
      <a:dk1>
        <a:srgbClr val="000000"/>
      </a:dk1>
      <a:lt1>
        <a:srgbClr val="FFFFFF"/>
      </a:lt1>
      <a:dk2>
        <a:srgbClr val="111111"/>
      </a:dk2>
      <a:lt2>
        <a:srgbClr val="E5E7EB"/>
      </a:lt2>
      <a:accent1>
        <a:srgbClr val="3D8DFF"/>
      </a:accent1>
      <a:accent2>
        <a:srgbClr val="EAF5FB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D8DFF"/>
      </a:hlink>
      <a:folHlink>
        <a:srgbClr val="3D8DF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aunchAgents Shar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78957520284c35" /><Relationship Type="http://schemas.openxmlformats.org/officeDocument/2006/relationships/notesMaster" Target="/ppt/notesMasters/notesMaster1.xml" Id="R397ee7062d7043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cebd8fde744722" /><Relationship Type="http://schemas.openxmlformats.org/officeDocument/2006/relationships/notesMaster" Target="/ppt/notesMasters/notesMaster1.xml" Id="Rb4482db037c442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0e87894f0a4c81" /><Relationship Type="http://schemas.openxmlformats.org/officeDocument/2006/relationships/notesMaster" Target="/ppt/notesMasters/notesMaster1.xml" Id="R6f8b462c253b49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b23a645c1240b9" /><Relationship Type="http://schemas.openxmlformats.org/officeDocument/2006/relationships/notesMaster" Target="/ppt/notesMasters/notesMaster1.xml" Id="R7ff1bfcc8bef42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944e163b904ec3" /><Relationship Type="http://schemas.openxmlformats.org/officeDocument/2006/relationships/notesMaster" Target="/ppt/notesMasters/notesMaster1.xml" Id="R42c6c121271b47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1afd91bb464761" /><Relationship Type="http://schemas.openxmlformats.org/officeDocument/2006/relationships/notesMaster" Target="/ppt/notesMasters/notesMaster1.xml" Id="R28402768078a41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146be22fdd412a" /><Relationship Type="http://schemas.openxmlformats.org/officeDocument/2006/relationships/notesMaster" Target="/ppt/notesMasters/notesMaster1.xml" Id="Rf00816e3730647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eca0e0cb7646f4" /><Relationship Type="http://schemas.openxmlformats.org/officeDocument/2006/relationships/notesMaster" Target="/ppt/notesMasters/notesMaster1.xml" Id="Rf06ce8232ce645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8d5ac5dd3241ea" /><Relationship Type="http://schemas.openxmlformats.org/officeDocument/2006/relationships/notesMaster" Target="/ppt/notesMasters/notesMaster1.xml" Id="Reb8118797a8a45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6dddfb560c4276" /><Relationship Type="http://schemas.openxmlformats.org/officeDocument/2006/relationships/notesMaster" Target="/ppt/notesMasters/notesMaster1.xml" Id="R735127a766e24b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ae43fd84a147e7" /><Relationship Type="http://schemas.openxmlformats.org/officeDocument/2006/relationships/notesMaster" Target="/ppt/notesMasters/notesMaster1.xml" Id="Rc8cb4cfa3c2a4c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4aa10cc04c4c23" /><Relationship Type="http://schemas.openxmlformats.org/officeDocument/2006/relationships/notesMaster" Target="/ppt/notesMasters/notesMaster1.xml" Id="R94011a986cd647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671fb9c14344516" /><Relationship Type="http://schemas.openxmlformats.org/officeDocument/2006/relationships/notesMaster" Target="/ppt/notesMasters/notesMaster1.xml" Id="Rbfb62cc45b104b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181728885c94308" /><Relationship Type="http://schemas.openxmlformats.org/officeDocument/2006/relationships/notesMaster" Target="/ppt/notesMasters/notesMaster1.xml" Id="R2d026655940c4f7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8482e177a440b5" /><Relationship Type="http://schemas.openxmlformats.org/officeDocument/2006/relationships/notesMaster" Target="/ppt/notesMasters/notesMaster1.xml" Id="R142b7de22a2649d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f92988fd8284fa3" /><Relationship Type="http://schemas.openxmlformats.org/officeDocument/2006/relationships/notesMaster" Target="/ppt/notesMasters/notesMaster1.xml" Id="R064e83f4fa84488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47eb19f96704ffa" /><Relationship Type="http://schemas.openxmlformats.org/officeDocument/2006/relationships/notesMaster" Target="/ppt/notesMasters/notesMaster1.xml" Id="R9c80ddf58b594a7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1475726955947ae" /><Relationship Type="http://schemas.openxmlformats.org/officeDocument/2006/relationships/notesMaster" Target="/ppt/notesMasters/notesMaster1.xml" Id="R98edd8e634dd406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303fdfea8842cc" /><Relationship Type="http://schemas.openxmlformats.org/officeDocument/2006/relationships/notesMaster" Target="/ppt/notesMasters/notesMaster1.xml" Id="R56f8941635664af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bddd59f162c4d34" /><Relationship Type="http://schemas.openxmlformats.org/officeDocument/2006/relationships/notesMaster" Target="/ppt/notesMasters/notesMaster1.xml" Id="Re5f8a6a8f83a43d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b3b9f6f75074b6c" /><Relationship Type="http://schemas.openxmlformats.org/officeDocument/2006/relationships/notesMaster" Target="/ppt/notesMasters/notesMaster1.xml" Id="R40307e0b22a84f2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faad41a482643d0" /><Relationship Type="http://schemas.openxmlformats.org/officeDocument/2006/relationships/notesMaster" Target="/ppt/notesMasters/notesMaster1.xml" Id="Rbf3edb5a4af944d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9b53661d5ba4c94" /><Relationship Type="http://schemas.openxmlformats.org/officeDocument/2006/relationships/notesMaster" Target="/ppt/notesMasters/notesMaster1.xml" Id="R5cc12fff153d480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ccb101d744047ef" /><Relationship Type="http://schemas.openxmlformats.org/officeDocument/2006/relationships/notesMaster" Target="/ppt/notesMasters/notesMaster1.xml" Id="R0869ad943b3a421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d3e5d8dad4d4928" /><Relationship Type="http://schemas.openxmlformats.org/officeDocument/2006/relationships/notesMaster" Target="/ppt/notesMasters/notesMaster1.xml" Id="R9ebf3db9e9204f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开场：不要先讲定义，先带大家看自己电脑上已经存在的 LaunchAgent。</a:t>
            </a:r>
          </a:p>
          <a:p xmlns:a="http://schemas.openxmlformats.org/drawingml/2006/main">
            <a:r>
              <a:t>本页目标：让同事对主题有画面感——每天用的 Finder、Dock、Safari 背后都有 launchd 在管。</a:t>
            </a:r>
          </a:p>
          <a:p xmlns:a="http://schemas.openxmlformats.org/drawingml/2006/main">
            <a:r>
              <a:t>[Sources] Apple Support: 使用 launchd 管理脚本; Apple TN2083 Daemons and 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这份大纲按 90 分钟设计，适合边讲边演示。</a:t>
            </a:r>
          </a:p>
          <a:p xmlns:a="http://schemas.openxmlformats.org/drawingml/2006/main">
            <a:r>
              <a:t>如果现场只有 60 分钟，建议保留：原生例子、plist 最小示例、launchctl 三件事、排障四步。</a:t>
            </a:r>
          </a:p>
          <a:p xmlns:a="http://schemas.openxmlformats.org/drawingml/2006/main">
            <a:r>
              <a:t>讲师节奏：每 20 分钟留一个小停顿，做一次现场操作或提问。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用需求而不是术语开场，让不同岗位的同事都能立刻理解为什么学 LaunchAgents。</a:t>
            </a:r>
          </a:p>
          <a:p xmlns:a="http://schemas.openxmlformats.org/drawingml/2006/main">
            <a:r>
              <a:t>可以让大家先举手：谁曾经用过 cron、登录项、第三方调度工具？</a:t>
            </a:r>
          </a:p>
          <a:p xmlns:a="http://schemas.openxmlformats.org/drawingml/2006/main">
            <a:r>
              <a:t>本页最后落到一句话：这些需求，launchd 都能统一解决。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讲法：从 iCloud 同步、Safari 书签、FaceTime、Spotlight 这些每天都会碰到的功能切入。</a:t>
            </a:r>
          </a:p>
          <a:p xmlns:a="http://schemas.openxmlformats.org/drawingml/2006/main">
            <a:r>
              <a:t>这些名字都来自本机 /System/Library/LaunchAgents 下的 plist，是可查证的真实例子。</a:t>
            </a:r>
          </a:p>
          <a:p xmlns:a="http://schemas.openxmlformats.org/drawingml/2006/main">
            <a:r>
              <a:t>重点不是记名字，而是建立直觉：很多“安静但持续存在”的同步和搜索能力，背后都是一个 Agent。</a:t>
            </a:r>
          </a:p>
          <a:p xmlns:a="http://schemas.openxmlformats.org/drawingml/2006/main">
            <a:r>
              <a:t>[Sources] 本机 plutil -p /System/Library/LaunchAgents/com.apple.iCloudNotificationAgent.plist、com.apple.cloudd.plist、com.apple.SafariBookmarksSyncAgent.plist、com.apple.facetimemessagestored.plist、com.apple.Spotlight.plist.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这一页补一个全局视角：LaunchAgents 不是孤立配置，而是 launchd 体系的一部分。</a:t>
            </a:r>
          </a:p>
          <a:p xmlns:a="http://schemas.openxmlformats.org/drawingml/2006/main">
            <a:r>
              <a:t>PID 1 可以用 ps -p 1 -o comm= 验证，现场演示会更有体感。</a:t>
            </a:r>
          </a:p>
          <a:p xmlns:a="http://schemas.openxmlformats.org/drawingml/2006/main">
            <a:r>
              <a:t>域的概念不必展开太深，只要能区分 system 与 gui/user 即可。</a:t>
            </a:r>
          </a:p>
          <a:p xmlns:a="http://schemas.openxmlformats.org/drawingml/2006/main">
            <a:r>
              <a:t>[Sources] Apple TN2083 Daemons and Agents; man launchd(8); launchd.info.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这是最核心的三个名词，先讲清楚能避免后面大量误解。</a:t>
            </a:r>
          </a:p>
          <a:p xmlns:a="http://schemas.openxmlformats.org/drawingml/2006/main">
            <a:r>
              <a:t>job 是“被管理的任务”，plist 是“任务说明书”，domain 是“挂载位置”。</a:t>
            </a:r>
          </a:p>
          <a:p xmlns:a="http://schemas.openxmlformats.org/drawingml/2006/main">
            <a:r>
              <a:t>可以类比：job 是进程版的服务条目，plist 是配置文件，domain 是运行环境边界。</a:t>
            </a:r>
          </a:p>
          <a:p xmlns:a="http://schemas.openxmlformats.org/drawingml/2006/main">
            <a:r>
              <a:t>[Sources] man launchd.plist; man launchctl; Apple TN2083.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这里最关键的分界是“运行身份和可见 UI”。</a:t>
            </a:r>
          </a:p>
          <a:p xmlns:a="http://schemas.openxmlformats.org/drawingml/2006/main">
            <a:r>
              <a:t>Agent 属于某个登录用户，能访问用户主目录，也能显示通知/小界面；Daemon 是系统级、无 UI。</a:t>
            </a:r>
          </a:p>
          <a:p xmlns:a="http://schemas.openxmlformats.org/drawingml/2006/main">
            <a:r>
              <a:t>多数日常自动化（同步、备份、清理、定时提醒）应该用 Agent，而不是 Daemon。</a:t>
            </a:r>
          </a:p>
          <a:p xmlns:a="http://schemas.openxmlformats.org/drawingml/2006/main">
            <a:r>
              <a:t>[Sources] Apple TN2083 Daemons and Agents: Daemon / Agent 定义; man launchd.plist.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这张表帮助同事建立边界：不是所有后台程序都叫 LaunchAgent。</a:t>
            </a:r>
          </a:p>
          <a:p xmlns:a="http://schemas.openxmlformats.org/drawingml/2006/main">
            <a:r>
              <a:t>Login item 由登录流程拉起，但 launchd 不一定持续管理；XPC service 面向单个应用按需启动。</a:t>
            </a:r>
          </a:p>
          <a:p xmlns:a="http://schemas.openxmlformats.org/drawingml/2006/main">
            <a:r>
              <a:t>Apple 建议 Agent 也尽量少显示 UI，真正需要持续界面的场景优先考虑普通应用或 Login item。</a:t>
            </a:r>
          </a:p>
          <a:p xmlns:a="http://schemas.openxmlformats.org/drawingml/2006/main">
            <a:r>
              <a:t>[Sources] Apple Daemons and Services Programming Guide, Table 1-1.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三个目录可以用“系统级、所有用户、仅当前用户”来记。</a:t>
            </a:r>
          </a:p>
          <a:p xmlns:a="http://schemas.openxmlformats.org/drawingml/2006/main">
            <a:r>
              <a:t>个人实验放 ~/Library/LaunchAgents 最安全，不需要 sudo。</a:t>
            </a:r>
          </a:p>
          <a:p xmlns:a="http://schemas.openxmlformats.org/drawingml/2006/main">
            <a:r>
              <a:t>LaunchDaemons 在 LaunchDaemons 目录，面向系统级、通常 root 运行，今天不展开。</a:t>
            </a:r>
          </a:p>
          <a:p xmlns:a="http://schemas.openxmlformats.org/drawingml/2006/main">
            <a:r>
              <a:t>[Sources] Apple Support: 使用 launchd 管理脚本; man launchd.plist FILES 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这页给没有 XML 基础的同事一个“最小地图”，不用背语法。</a:t>
            </a:r>
          </a:p>
          <a:p xmlns:a="http://schemas.openxmlformats.org/drawingml/2006/main">
            <a:r>
              <a:t>现场可以用 plutil -p 把 XML 打印成更易读的字典形式，帮助理解。</a:t>
            </a:r>
          </a:p>
          <a:p xmlns:a="http://schemas.openxmlformats.org/drawingml/2006/main">
            <a:r>
              <a:t>强调每个 key 后面的数据类型，后续学 Label、ProgramArguments 会更顺。</a:t>
            </a:r>
          </a:p>
          <a:p xmlns:a="http://schemas.openxmlformats.org/drawingml/2006/main">
            <a:r>
              <a:t>[Sources] man plist(5); man launchd.plist; launchd.info.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plist 是 Apple 的 XML 配置文件，也是 launchd 的“任务说明书”。</a:t>
            </a:r>
          </a:p>
          <a:p xmlns:a="http://schemas.openxmlformats.org/drawingml/2006/main">
            <a:r>
              <a:t>强调 ProgramArguments 是数组：很多人会误写成一行字符串。</a:t>
            </a:r>
          </a:p>
          <a:p xmlns:a="http://schemas.openxmlformats.org/drawingml/2006/main">
            <a:r>
              <a:t>KeepAlive 很强大但容易踩坑，后面避坑页会展开。</a:t>
            </a:r>
          </a:p>
          <a:p xmlns:a="http://schemas.openxmlformats.org/drawingml/2006/main">
            <a:r>
              <a:t>[Sources] man launchd.plist XML PROPERTY LIST KEYS: Label, ProgramArguments, RunAtLoad, StartInterval, KeepAlive.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这个示例刻意保持短，让同事把结构看清楚：Label、ProgramArguments、StartInterval、日志路径。</a:t>
            </a:r>
          </a:p>
          <a:p xmlns:a="http://schemas.openxmlformats.org/drawingml/2006/main">
            <a:r>
              <a:t>讲解时可以打开一个 plist 文件逐行对照。</a:t>
            </a:r>
          </a:p>
          <a:p xmlns:a="http://schemas.openxmlformats.org/drawingml/2006/main">
            <a:r>
              <a:t>注意 /Users/me/bin/beat.sh 要写成绝对路径，不能写 ~。</a:t>
            </a:r>
          </a:p>
          <a:p xmlns:a="http://schemas.openxmlformats.org/drawingml/2006/main">
            <a:r>
              <a:t>[Sources] man launchd.plist; Apple TN2083 Getting Launched / property list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用这页把前面零散概念串起来：plist -&gt; 装载 -&gt; 条件判断 -&gt; 进程 -&gt; 日志/重启。</a:t>
            </a:r>
          </a:p>
          <a:p xmlns:a="http://schemas.openxmlformats.org/drawingml/2006/main">
            <a:r>
              <a:t>可以现场执行 launchctl print gui/$(id -u)/com.example.heartbeat，对着输出找 state、last exit status。</a:t>
            </a:r>
          </a:p>
          <a:p xmlns:a="http://schemas.openxmlformats.org/drawingml/2006/main">
            <a:r>
              <a:t>强调“装载”和“启动”是两个动作，这是新手最容易混淆的点。</a:t>
            </a:r>
          </a:p>
          <a:p xmlns:a="http://schemas.openxmlformats.org/drawingml/2006/main">
            <a:r>
              <a:t>[Sources] man launchd.plist; man launchctl; launchd.info.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实际演示顺序：先 bootstrap 装载，再 print 看状态，最后 kickstart -k 强制重跑。</a:t>
            </a:r>
          </a:p>
          <a:p xmlns:a="http://schemas.openxmlformats.org/drawingml/2006/main">
            <a:r>
              <a:t>gui/$(id -u) 指定当前登录用户的 GUI 域，LaunchAgent 通常都挂在这里。</a:t>
            </a:r>
          </a:p>
          <a:p xmlns:a="http://schemas.openxmlformats.org/drawingml/2006/main">
            <a:r>
              <a:t>不建议继续用 load/unload，现代 macOS 推荐 bootstrap/bootout/enable/disable。</a:t>
            </a:r>
          </a:p>
          <a:p xmlns:a="http://schemas.openxmlformats.org/drawingml/2006/main">
            <a:r>
              <a:t>[Sources] man launchctl: bootstrap, bootout, print, kickstart; man launchctl LEGACY SUBCOMMANDS.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这一页回答“任务什么时候开始”。</a:t>
            </a:r>
          </a:p>
          <a:p xmlns:a="http://schemas.openxmlformats.org/drawingml/2006/main">
            <a:r>
              <a:t>对同事最实用的是 StartInterval 和 StartCalendarInterval；WatchPaths 适合文件到达、目录变化等自动化。</a:t>
            </a:r>
          </a:p>
          <a:p xmlns:a="http://schemas.openxmlformats.org/drawingml/2006/main">
            <a:r>
              <a:t>KeepAlive 要谨慎，尤其是脚本很快退出时容易形成 crash loop。</a:t>
            </a:r>
          </a:p>
          <a:p xmlns:a="http://schemas.openxmlformats.org/drawingml/2006/main">
            <a:r>
              <a:t>[Sources] man launchd.plist: RunAtLoad, StartInterval, StartCalendarInterval, WatchPaths, Sockets, KeepAlive.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这页把 KeepAlive 从“开关”讲成“重启策略”，是新手到进阶的重要台阶。</a:t>
            </a:r>
          </a:p>
          <a:p xmlns:a="http://schemas.openxmlformats.org/drawingml/2006/main">
            <a:r>
              <a:t>重点强调：脚本很快退出 + KeepAlive=true 会形成 crash loop。</a:t>
            </a:r>
          </a:p>
          <a:p xmlns:a="http://schemas.openxmlformats.org/drawingml/2006/main">
            <a:r>
              <a:t>PathState 虽可用，但文件系统监听有竞态风险；能用事件/IPC 就优先用事件。</a:t>
            </a:r>
          </a:p>
          <a:p xmlns:a="http://schemas.openxmlformats.org/drawingml/2006/main">
            <a:r>
              <a:t>[Sources] man launchd.plist KeepAlive; Apple TN2083; launchd.info.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这一页把前面反复出现的 gui/$(id -u) 讲透。</a:t>
            </a:r>
          </a:p>
          <a:p xmlns:a="http://schemas.openxmlformats.org/drawingml/2006/main">
            <a:r>
              <a:t>可以现场执行 launchctl print gui/$(id -u) 看当前 GUI 域。</a:t>
            </a:r>
          </a:p>
          <a:p xmlns:a="http://schemas.openxmlformats.org/drawingml/2006/main">
            <a:r>
              <a:t>domain 不是抽象概念，它决定权限、环境变量和任务隔离。</a:t>
            </a:r>
          </a:p>
          <a:p xmlns:a="http://schemas.openxmlformats.org/drawingml/2006/main">
            <a:r>
              <a:t>[Sources] man launchctl domain-target; Apple TN2083 Bootstrap Namespaces.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只在真正需要全局服务时用 Daemon；个人自动化通常用 Agent 即可。</a:t>
            </a:r>
          </a:p>
          <a:p xmlns:a="http://schemas.openxmlformats.org/drawingml/2006/main">
            <a:r>
              <a:t>演示命令时强调 system 域需要 sudo，gui/$(id -u) 则不需要。</a:t>
            </a:r>
          </a:p>
          <a:p xmlns:a="http://schemas.openxmlformats.org/drawingml/2006/main">
            <a:r>
              <a:t>文件权限：/Library/LaunchDaemons 中的 plist 由 root 拥有，并禁止组/其他用户可写。</a:t>
            </a:r>
          </a:p>
          <a:p xmlns:a="http://schemas.openxmlformats.org/drawingml/2006/main">
            <a:r>
              <a:t>[Sources] Apple Daemons and Services Programming Guide; man launchd.plist; man launchctl.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进阶关键：很多问题不是脚本错，而是运行环境不同。</a:t>
            </a:r>
          </a:p>
          <a:p xmlns:a="http://schemas.openxmlformats.org/drawingml/2006/main">
            <a:r>
              <a:t>Terminal 有交互式 shell 环境，LaunchAgent 没有，所以必须显式配置 PATH 和绝对路径。</a:t>
            </a:r>
          </a:p>
          <a:p xmlns:a="http://schemas.openxmlformats.org/drawingml/2006/main">
            <a:r>
              <a:t>日志是排障最重要的基础设施，建议每个任务一开始就配。</a:t>
            </a:r>
          </a:p>
          <a:p xmlns:a="http://schemas.openxmlformats.org/drawingml/2006/main">
            <a:r>
              <a:t>[Sources] man launchd.plist: StandardOutPath, StandardErrorPath, WorkingDirectory, EnvironmentVariables, ProcessType, SoftResourceLimits.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 macOS 现代版本里最容易被忽略的一层。</a:t>
            </a:r>
          </a:p>
          <a:p xmlns:a="http://schemas.openxmlformats.org/drawingml/2006/main">
            <a:r>
              <a:t>TCC 会让“脚本在 Terminal 正常，但 Agent 里不工作”成为常见现象。</a:t>
            </a:r>
          </a:p>
          <a:p xmlns:a="http://schemas.openxmlformats.org/drawingml/2006/main">
            <a:r>
              <a:t>建议现场演示一次没有 Full Disk Access 的失败场景，再展示授权后恢复正常。</a:t>
            </a:r>
          </a:p>
          <a:p xmlns:a="http://schemas.openxmlformats.org/drawingml/2006/main">
            <a:r>
              <a:t>[Sources] man launchd.plist CAVEATS; Apple TN2083; Lingon FAQ privacy permissions.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给一个可照做的完整路径，方便同事下课后直接复现。</a:t>
            </a:r>
          </a:p>
          <a:p xmlns:a="http://schemas.openxmlformats.org/drawingml/2006/main">
            <a:r>
              <a:t>脚本示例可以是一个清理 Downloads 或备份某个文件夹的小脚本。</a:t>
            </a:r>
          </a:p>
          <a:p xmlns:a="http://schemas.openxmlformats.org/drawingml/2006/main">
            <a:r>
              <a:t>关键动作是 plist 校验、bootstrap、print/kickstart 验证。</a:t>
            </a:r>
          </a:p>
          <a:p xmlns:a="http://schemas.openxmlformats.org/drawingml/2006/main">
            <a:r>
              <a:t>[Sources] man launchd.plist; man launchctl.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排障顺序很重要：先语法，再路径权限，然后看 launchd 状态，最后强制重跑验证。</a:t>
            </a:r>
          </a:p>
          <a:p xmlns:a="http://schemas.openxmlformats.org/drawingml/2006/main">
            <a:r>
              <a:t>print 输出里能看 last exit status、运行 PID、触发原因等关键信息。</a:t>
            </a:r>
          </a:p>
          <a:p xmlns:a="http://schemas.openxmlformats.org/drawingml/2006/main">
            <a:r>
              <a:t>日志是排障最省时间的投资，强烈建议一开始就配。</a:t>
            </a:r>
          </a:p>
          <a:p xmlns:a="http://schemas.openxmlformats.org/drawingml/2006/main">
            <a:r>
              <a:t>[Sources] man launchctl: print, kickstart; man launchd.plist: StandardOutPath, StandardErrorPath.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这一页把前面出现的风险集中成清单，方便大家检查自己的配置。</a:t>
            </a:r>
          </a:p>
          <a:p xmlns:a="http://schemas.openxmlformats.org/drawingml/2006/main">
            <a:r>
              <a:t>重点强调 KeepAlive 不是万能开关，而是“常驻/重启策略”。</a:t>
            </a:r>
          </a:p>
          <a:p xmlns:a="http://schemas.openxmlformats.org/drawingml/2006/main">
            <a:r>
              <a:t>个人 LaunchAgent 放在 ~/Library/LaunchAgents，文件所有权应该是当前用户。</a:t>
            </a:r>
          </a:p>
          <a:p xmlns:a="http://schemas.openxmlformats.org/drawingml/2006/main">
            <a:r>
              <a:t>[Sources] man launchd.plist; man launchctl LEGACY load/unload security notes; Apple TN2083.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推荐顺序：入门看 Apple Support；系统理解看 TN2083；查配置键看 launchd.info 或 man launchd.plist。</a:t>
            </a:r>
          </a:p>
          <a:p xmlns:a="http://schemas.openxmlformats.org/drawingml/2006/main">
            <a:r>
              <a:t>GUI 工具建议新手用 Lingon 快速上手，深入学习后用 LaunchControl 做调试和日志分析。</a:t>
            </a:r>
          </a:p>
          <a:p xmlns:a="http://schemas.openxmlformats.org/drawingml/2006/main">
            <a:r>
              <a:t>URLs: https://support.apple.com/zh-cn/guide/terminal/apdc6c1077b-5d5d-4d35-9c19-60f2397b2369/2.8/mac, https://developer.apple.com/library/archive/technotes/tn2083/_index.html, https://developer.apple.com/library/archive/documentation/MacOSX/Conceptual/BPSystemStartup/Chapters/DesigningDaemons.html, https://launchd.info/, https://www.soma-zone.com/LaunchControl/, https://www.peterborgapps.com/lingon/</a:t>
            </a:r>
          </a:p>
          <a:p xmlns:a="http://schemas.openxmlformats.org/drawingml/2006/main">
            <a:r>
              <a:t>[Sources] Apple Support; Apple TN2083; Apple Daemons and Services Programming Guide; launchd.info; LaunchControl; Lingon.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收束到行动：LaunchAgents 不是只有系统在用，个人也可以拿来解决真实重复劳动。</a:t>
            </a:r>
          </a:p>
          <a:p xmlns:a="http://schemas.openxmlformats.org/drawingml/2006/main">
            <a:r>
              <a:t>建议下课前留 5 分钟现场演示一个最小示例。</a:t>
            </a:r>
          </a:p>
          <a:p xmlns:a="http://schemas.openxmlformats.org/drawingml/2006/main">
            <a:r>
              <a:t>[Sources] Apple Support: 使用 launchd 管理脚本; man launchd.plist; man launchctl.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00717a5b2a40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362aa414c54e29" /><Relationship Type="http://schemas.openxmlformats.org/officeDocument/2006/relationships/slideLayout" Target="/ppt/slideLayouts/slideLayout1.xml" Id="Re201241e734f46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01241e734f46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LaunchAgents Share">
      <a:dk1>
        <a:srgbClr val="000000"/>
      </a:dk1>
      <a:lt1>
        <a:srgbClr val="FFFFFF"/>
      </a:lt1>
      <a:dk2>
        <a:srgbClr val="111111"/>
      </a:dk2>
      <a:lt2>
        <a:srgbClr val="E5E7EB"/>
      </a:lt2>
      <a:accent1>
        <a:srgbClr val="3D8DFF"/>
      </a:accent1>
      <a:accent2>
        <a:srgbClr val="EAF5FB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D8DFF"/>
      </a:hlink>
      <a:folHlink>
        <a:srgbClr val="3D8DF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aunchAgents Shar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29069d464749fb" /><Relationship Type="http://schemas.openxmlformats.org/officeDocument/2006/relationships/notesSlide" Target="/ppt/notesSlides/notesSlide1.xml" Id="R682477340b3648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216fbf2114e60" /><Relationship Type="http://schemas.openxmlformats.org/officeDocument/2006/relationships/notesSlide" Target="/ppt/notesSlides/notesSlide2.xml" Id="R34a98078d32d43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3df691a984de0" /><Relationship Type="http://schemas.openxmlformats.org/officeDocument/2006/relationships/notesSlide" Target="/ppt/notesSlides/notesSlide3.xml" Id="Rd4749e92d8014c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337cf0cbd434c" /><Relationship Type="http://schemas.openxmlformats.org/officeDocument/2006/relationships/notesSlide" Target="/ppt/notesSlides/notesSlide4.xml" Id="R20af161d20ff47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5c75cb7aa4fe0" /><Relationship Type="http://schemas.openxmlformats.org/officeDocument/2006/relationships/notesSlide" Target="/ppt/notesSlides/notesSlide5.xml" Id="R15f5dd39854641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79c3d5432470e" /><Relationship Type="http://schemas.openxmlformats.org/officeDocument/2006/relationships/notesSlide" Target="/ppt/notesSlides/notesSlide6.xml" Id="Rc953e7a358fa4a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8c91479a34e95" /><Relationship Type="http://schemas.openxmlformats.org/officeDocument/2006/relationships/notesSlide" Target="/ppt/notesSlides/notesSlide7.xml" Id="R0040f7e4912146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3c529d2114fa5" /><Relationship Type="http://schemas.openxmlformats.org/officeDocument/2006/relationships/notesSlide" Target="/ppt/notesSlides/notesSlide8.xml" Id="R250da31f521c4a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f063aea324411" /><Relationship Type="http://schemas.openxmlformats.org/officeDocument/2006/relationships/notesSlide" Target="/ppt/notesSlides/notesSlide9.xml" Id="Rc112fb23cf704b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e59ec07aa429b" /><Relationship Type="http://schemas.openxmlformats.org/officeDocument/2006/relationships/notesSlide" Target="/ppt/notesSlides/notesSlide10.xml" Id="R6f408ea04cb74f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bdb24c5d34637" /><Relationship Type="http://schemas.openxmlformats.org/officeDocument/2006/relationships/notesSlide" Target="/ppt/notesSlides/notesSlide11.xml" Id="R5277ee3b137b48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1ed08c5ec4a59" /><Relationship Type="http://schemas.openxmlformats.org/officeDocument/2006/relationships/notesSlide" Target="/ppt/notesSlides/notesSlide12.xml" Id="R96ca0cace7ea449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6c67a75934a28" /><Relationship Type="http://schemas.openxmlformats.org/officeDocument/2006/relationships/notesSlide" Target="/ppt/notesSlides/notesSlide13.xml" Id="R880ab89792054f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7634ea771479f" /><Relationship Type="http://schemas.openxmlformats.org/officeDocument/2006/relationships/notesSlide" Target="/ppt/notesSlides/notesSlide14.xml" Id="R71a05ed4bb1546b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8268d859d405c" /><Relationship Type="http://schemas.openxmlformats.org/officeDocument/2006/relationships/notesSlide" Target="/ppt/notesSlides/notesSlide15.xml" Id="Reb3fd7cf088d49a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94031dd65476c" /><Relationship Type="http://schemas.openxmlformats.org/officeDocument/2006/relationships/notesSlide" Target="/ppt/notesSlides/notesSlide16.xml" Id="Rb4908a7d10624d9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c653758cc4b69" /><Relationship Type="http://schemas.openxmlformats.org/officeDocument/2006/relationships/notesSlide" Target="/ppt/notesSlides/notesSlide17.xml" Id="R7d0689979975446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e8f4648674bda" /><Relationship Type="http://schemas.openxmlformats.org/officeDocument/2006/relationships/notesSlide" Target="/ppt/notesSlides/notesSlide18.xml" Id="Re50f01c29ff2463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a7894c3054efe" /><Relationship Type="http://schemas.openxmlformats.org/officeDocument/2006/relationships/notesSlide" Target="/ppt/notesSlides/notesSlide19.xml" Id="R24fb1f10742d472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2612def214531" /><Relationship Type="http://schemas.openxmlformats.org/officeDocument/2006/relationships/notesSlide" Target="/ppt/notesSlides/notesSlide20.xml" Id="Rc67a877399e944e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1d16b45c743b0" /><Relationship Type="http://schemas.openxmlformats.org/officeDocument/2006/relationships/notesSlide" Target="/ppt/notesSlides/notesSlide21.xml" Id="R1ef662b6b073441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18b522a884fe5" /><Relationship Type="http://schemas.openxmlformats.org/officeDocument/2006/relationships/notesSlide" Target="/ppt/notesSlides/notesSlide22.xml" Id="R52c4e196d7e54e7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5557a3b804fb3" /><Relationship Type="http://schemas.openxmlformats.org/officeDocument/2006/relationships/notesSlide" Target="/ppt/notesSlides/notesSlide23.xml" Id="R7ca29a35eabb440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fe70b794e48e5" /><Relationship Type="http://schemas.openxmlformats.org/officeDocument/2006/relationships/notesSlide" Target="/ppt/notesSlides/notesSlide24.xml" Id="R5e4ba92e72874f3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496290c864ff7" /><Relationship Type="http://schemas.openxmlformats.org/officeDocument/2006/relationships/notesSlide" Target="/ppt/notesSlides/notesSlide25.xml" Id="R85050e616fa84c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9178CDD5-C817-44EC-BA08-08F74F36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内部技术分享 · macOS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78C5813-5E34-4004-AC5D-E9004D08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57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4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54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把后台任务交给 launchd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E2BC357-B787-4F18-8DAE-09D27F89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2064768-F0C7-4226-8AA0-73EFB0F8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macOS LaunchAgents 入门：概念、配置、命令与排障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约 90 分钟 · 从系统自带例子到能自己写、查、排障。</a:t>
            </a:r>
          </a:p>
        </p:txBody>
      </p:sp>
    </p:spTree>
    <p:extLst>
      <p:ext uri="{BB962C8B-B14F-4D97-AF65-F5344CB8AC3E}">
        <p14:creationId xmlns:p14="http://schemas.microsoft.com/office/powerpoint/2010/main" val="4244452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A36217-27A5-40FB-AF65-27478FF9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从基础到进阶：90 分钟课程地图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2136D9B-0069-451F-9D24-7F831AB9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18F15D9C-5EF6-4E89-BE06-1980EAF5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1714500"/>
                <a:gridCol w="1524000"/>
                <a:gridCol w="773430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阶段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时间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内容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基础认识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20 min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常见 LaunchAgent、launchd、job / plist / domain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核心操作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30 min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目录、plist 配置、最小示例、launchctl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进阶门槛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 min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触发与 KeepAlive、domain、Daemon、日志、隐私权限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实战收尾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 min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五步上线、排障清单、工具与学习资源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5" name="agenda-note">
            <a:extLst xmlns:a="http://schemas.openxmlformats.org/drawingml/2006/main">
              <a:ext uri="{FF2B5EF4-FFF2-40B4-BE49-F238E27FC236}">
                <a16:creationId xmlns:a16="http://schemas.microsoft.com/office/drawing/2014/main" id="{B1493C7F-B77C-44A5-8452-6E992E3D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课程按 90 分钟设计，每阶段都穿插现场演示。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如需压缩到 75 分钟：保留基础认识和核心操作，把进阶与实战合并讲解。</a:t>
            </a:r>
          </a:p>
        </p:txBody>
      </p:sp>
    </p:spTree>
    <p:extLst>
      <p:ext uri="{BB962C8B-B14F-4D97-AF65-F5344CB8AC3E}">
        <p14:creationId xmlns:p14="http://schemas.microsoft.com/office/powerpoint/2010/main" val="14681306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A9F212-255F-4CDC-AB8D-69172963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先看几个真实需求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7C071527-EAF8-40BF-8C3A-F4598D82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1BF0CDC0-51FF-4984-A7A5-0A0D0A5D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" name="problems-left-title">
            <a:extLst xmlns:a="http://schemas.openxmlformats.org/drawingml/2006/main">
              <a:ext uri="{FF2B5EF4-FFF2-40B4-BE49-F238E27FC236}">
                <a16:creationId xmlns:a16="http://schemas.microsoft.com/office/drawing/2014/main" id="{6638CC43-E5BE-4E82-923C-570A8CD0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你可能会想</a:t>
            </a:r>
          </a:p>
        </p:txBody>
      </p:sp>
      <p:sp>
        <p:nvSpPr>
          <p:cNvPr id="5" name="problems-left-body">
            <a:extLst xmlns:a="http://schemas.openxmlformats.org/drawingml/2006/main">
              <a:ext uri="{FF2B5EF4-FFF2-40B4-BE49-F238E27FC236}">
                <a16:creationId xmlns:a16="http://schemas.microsoft.com/office/drawing/2014/main" id="{9788BED8-2456-466B-A97E-81A61BF2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每天 03:00：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自动备份某个文件夹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登录后：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自动启动同步工具或代理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有文件到达：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自动压缩、上传或清理</a:t>
            </a:r>
          </a:p>
        </p:txBody>
      </p:sp>
      <p:sp>
        <p:nvSpPr>
          <p:cNvPr id="6" name="problems-right-title">
            <a:extLst xmlns:a="http://schemas.openxmlformats.org/drawingml/2006/main">
              <a:ext uri="{FF2B5EF4-FFF2-40B4-BE49-F238E27FC236}">
                <a16:creationId xmlns:a16="http://schemas.microsoft.com/office/drawing/2014/main" id="{B6892ABC-571C-485F-ACAB-622BE1CF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还可能是</a:t>
            </a:r>
          </a:p>
        </p:txBody>
      </p:sp>
      <p:sp>
        <p:nvSpPr>
          <p:cNvPr id="7" name="problems-right-body">
            <a:extLst xmlns:a="http://schemas.openxmlformats.org/drawingml/2006/main">
              <a:ext uri="{FF2B5EF4-FFF2-40B4-BE49-F238E27FC236}">
                <a16:creationId xmlns:a16="http://schemas.microsoft.com/office/drawing/2014/main" id="{138BE6B4-6F34-47A7-B631-97CBFC68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程序崩溃后：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希望它自动重新拉起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某个网络端口：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有连接时再按需启动服务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不想装额外调度工具：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用 macOS 原生能力完成</a:t>
            </a:r>
          </a:p>
        </p:txBody>
      </p:sp>
      <p:sp>
        <p:nvSpPr>
          <p:cNvPr id="8" name="problems-summary-panel">
            <a:extLst xmlns:a="http://schemas.openxmlformats.org/drawingml/2006/main">
              <a:ext uri="{FF2B5EF4-FFF2-40B4-BE49-F238E27FC236}">
                <a16:creationId xmlns:a16="http://schemas.microsoft.com/office/drawing/2014/main" id="{12E1626E-9AF2-42A7-97C6-82B7C8C7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problems-summary">
            <a:extLst xmlns:a="http://schemas.openxmlformats.org/drawingml/2006/main">
              <a:ext uri="{FF2B5EF4-FFF2-40B4-BE49-F238E27FC236}">
                <a16:creationId xmlns:a16="http://schemas.microsoft.com/office/drawing/2014/main" id="{0A7CDC7E-20BC-4F22-9A4E-F7EA2AAC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这些需求都指向同一个能力：让 macOS 按条件、按用户、自动运行任务。</a:t>
            </a:r>
          </a:p>
        </p:txBody>
      </p:sp>
    </p:spTree>
    <p:extLst>
      <p:ext uri="{BB962C8B-B14F-4D97-AF65-F5344CB8AC3E}">
        <p14:creationId xmlns:p14="http://schemas.microsoft.com/office/powerpoint/2010/main" val="19902987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227714-76BF-4C34-BE8D-58849349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这些日常功能，背后都有 LaunchAgent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763C5175-6EFC-490A-93F8-242C1942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5A32E90D-DD1A-456C-ADEF-0E0C1D93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0386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2190750"/>
                <a:gridCol w="3143250"/>
                <a:gridCol w="563880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日常功能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系统里的 Agent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它背后在做什么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iCloud 通知与同步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com.apple.iCloudNotificationAgent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接收 iCloud 可用性变化并刷新相关通知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iCloud 云服务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com.apple.cloudd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协调 CloudKit 数据同步与云资源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Safari 书签同步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com.apple.SafariBookmarksSyncAgent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登录后同步 Safari 书签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FaceTime 消息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com.apple.facetimemessagestored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后台处理 FaceTime 与信息消息存储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Spotlight 搜索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com.apple.Spotlight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维护聚焦搜索和索引服务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xamples-footnote">
            <a:extLst xmlns:a="http://schemas.openxmlformats.org/drawingml/2006/main">
              <a:ext uri="{FF2B5EF4-FFF2-40B4-BE49-F238E27FC236}">
                <a16:creationId xmlns:a16="http://schemas.microsoft.com/office/drawing/2014/main" id="{CAED4240-5963-4870-9C99-4E1D292D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这些 plist 都放在 /System/Library/LaunchAgents，由 launchd 在用户登录后按需管理。</a:t>
            </a:r>
          </a:p>
        </p:txBody>
      </p:sp>
    </p:spTree>
    <p:extLst>
      <p:ext uri="{BB962C8B-B14F-4D97-AF65-F5344CB8AC3E}">
        <p14:creationId xmlns:p14="http://schemas.microsoft.com/office/powerpoint/2010/main" val="19238839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15B96A-BE03-4C14-8DE8-E38DE3DE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先认识 launchd：macOS 的管家进程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D169D38E-9ECC-46DD-AF5A-D1A4FB1E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3D876ECC-BAB3-4BFB-A6EE-A0C97BEE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4" name="concept-left-title">
            <a:extLst xmlns:a="http://schemas.openxmlformats.org/drawingml/2006/main">
              <a:ext uri="{FF2B5EF4-FFF2-40B4-BE49-F238E27FC236}">
                <a16:creationId xmlns:a16="http://schemas.microsoft.com/office/drawing/2014/main" id="{645442A0-3B14-4F78-9F72-2D851A26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它是什么</a:t>
            </a:r>
          </a:p>
        </p:txBody>
      </p:sp>
      <p:sp>
        <p:nvSpPr>
          <p:cNvPr id="5" name="concept-left-body">
            <a:extLst xmlns:a="http://schemas.openxmlformats.org/drawingml/2006/main">
              <a:ext uri="{FF2B5EF4-FFF2-40B4-BE49-F238E27FC236}">
                <a16:creationId xmlns:a16="http://schemas.microsoft.com/office/drawing/2014/main" id="{EF3088C4-E965-4B06-8B52-354B010A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PID 1：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内核启动后最早运行的用户态进程之一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统一管家：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管理守护进程、代理、应用和脚本的启停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 job 管理：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每个任务用 plist 注册，由 launchd 监控生命周期</a:t>
            </a:r>
          </a:p>
        </p:txBody>
      </p:sp>
      <p:sp>
        <p:nvSpPr>
          <p:cNvPr id="6" name="concept-right-title">
            <a:extLst xmlns:a="http://schemas.openxmlformats.org/drawingml/2006/main">
              <a:ext uri="{FF2B5EF4-FFF2-40B4-BE49-F238E27FC236}">
                <a16:creationId xmlns:a16="http://schemas.microsoft.com/office/drawing/2014/main" id="{F543E1C3-A37D-4383-996A-56AAA4E4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怎么理解</a:t>
            </a:r>
          </a:p>
        </p:txBody>
      </p:sp>
      <p:sp>
        <p:nvSpPr>
          <p:cNvPr id="7" name="concept-right-body">
            <a:extLst xmlns:a="http://schemas.openxmlformats.org/drawingml/2006/main">
              <a:ext uri="{FF2B5EF4-FFF2-40B4-BE49-F238E27FC236}">
                <a16:creationId xmlns:a16="http://schemas.microsoft.com/office/drawing/2014/main" id="{089DB942-1216-4DDD-9BBE-5E61391F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类比：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物业总控 + 定时调度中心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分域隔离：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system 管全局，user/gui 管登录用户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能力更强：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支持按事件、端口、文件变化等条件启动</a:t>
            </a:r>
          </a:p>
        </p:txBody>
      </p:sp>
      <p:sp>
        <p:nvSpPr>
          <p:cNvPr id="8" name="concept-summary-panel">
            <a:extLst xmlns:a="http://schemas.openxmlformats.org/drawingml/2006/main">
              <a:ext uri="{FF2B5EF4-FFF2-40B4-BE49-F238E27FC236}">
                <a16:creationId xmlns:a16="http://schemas.microsoft.com/office/drawing/2014/main" id="{F2F34AAE-C389-409E-BEFC-B9652BC6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concept-summary">
            <a:extLst xmlns:a="http://schemas.openxmlformats.org/drawingml/2006/main">
              <a:ext uri="{FF2B5EF4-FFF2-40B4-BE49-F238E27FC236}">
                <a16:creationId xmlns:a16="http://schemas.microsoft.com/office/drawing/2014/main" id="{B9FE3645-4C5E-46FA-84A4-2B94D10D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对今天来说：LaunchAgent 就是 launchd 在用户域里管理的一类 job。</a:t>
            </a:r>
          </a:p>
        </p:txBody>
      </p:sp>
    </p:spTree>
    <p:extLst>
      <p:ext uri="{BB962C8B-B14F-4D97-AF65-F5344CB8AC3E}">
        <p14:creationId xmlns:p14="http://schemas.microsoft.com/office/powerpoint/2010/main" val="20538193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DBF0DA-000C-457C-9AA8-0D0B5EBF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三个基础词：job、plist、domain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7A7BFF7-DE19-4944-9936-1E861808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0CEAF161-0135-4066-92FF-A6D656A4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4" name="job-concept-title-0">
            <a:extLst xmlns:a="http://schemas.openxmlformats.org/drawingml/2006/main">
              <a:ext uri="{FF2B5EF4-FFF2-40B4-BE49-F238E27FC236}">
                <a16:creationId xmlns:a16="http://schemas.microsoft.com/office/drawing/2014/main" id="{41C6BF31-C843-4FEA-8918-682B34AE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50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job</a:t>
            </a:r>
          </a:p>
        </p:txBody>
      </p:sp>
      <p:sp>
        <p:nvSpPr>
          <p:cNvPr id="5" name="job-concept-body-0">
            <a:extLst xmlns:a="http://schemas.openxmlformats.org/drawingml/2006/main">
              <a:ext uri="{FF2B5EF4-FFF2-40B4-BE49-F238E27FC236}">
                <a16:creationId xmlns:a16="http://schemas.microsoft.com/office/drawing/2014/main" id="{99C7C7A6-8CBC-4F73-9BFE-D14AEBAB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35052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launchd 管理的最小任务单元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有唯一 Label 和完整生命周期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可被加载、启动、停止、重启</a:t>
            </a:r>
          </a:p>
        </p:txBody>
      </p:sp>
      <p:sp>
        <p:nvSpPr>
          <p:cNvPr id="6" name="job-concept-title-1">
            <a:extLst xmlns:a="http://schemas.openxmlformats.org/drawingml/2006/main">
              <a:ext uri="{FF2B5EF4-FFF2-40B4-BE49-F238E27FC236}">
                <a16:creationId xmlns:a16="http://schemas.microsoft.com/office/drawing/2014/main" id="{2643D5D2-C4EB-4609-8636-165AA1FC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28750"/>
            <a:ext cx="350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plist</a:t>
            </a:r>
          </a:p>
        </p:txBody>
      </p:sp>
      <p:sp>
        <p:nvSpPr>
          <p:cNvPr id="7" name="job-concept-body-1">
            <a:extLst xmlns:a="http://schemas.openxmlformats.org/drawingml/2006/main">
              <a:ext uri="{FF2B5EF4-FFF2-40B4-BE49-F238E27FC236}">
                <a16:creationId xmlns:a16="http://schemas.microsoft.com/office/drawing/2014/main" id="{464FBF5F-1624-4A7E-B60D-1FB03EEE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05000"/>
            <a:ext cx="35052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描述 job 的 XML 配置文件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写清楚做什么、何时做、以谁运行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文件名通常与 Label 一致</a:t>
            </a:r>
          </a:p>
        </p:txBody>
      </p:sp>
      <p:sp>
        <p:nvSpPr>
          <p:cNvPr id="8" name="job-concept-title-2">
            <a:extLst xmlns:a="http://schemas.openxmlformats.org/drawingml/2006/main">
              <a:ext uri="{FF2B5EF4-FFF2-40B4-BE49-F238E27FC236}">
                <a16:creationId xmlns:a16="http://schemas.microsoft.com/office/drawing/2014/main" id="{BF4B7E10-3AC1-49EA-B95F-571F88A3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28750"/>
            <a:ext cx="350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domain</a:t>
            </a:r>
          </a:p>
        </p:txBody>
      </p:sp>
      <p:sp>
        <p:nvSpPr>
          <p:cNvPr id="9" name="job-concept-body-2">
            <a:extLst xmlns:a="http://schemas.openxmlformats.org/drawingml/2006/main">
              <a:ext uri="{FF2B5EF4-FFF2-40B4-BE49-F238E27FC236}">
                <a16:creationId xmlns:a16="http://schemas.microsoft.com/office/drawing/2014/main" id="{F15503E2-EB02-4FAA-9529-46D1AEF3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05000"/>
            <a:ext cx="35052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launchd 的执行域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决定任务挂在系统还是用户会话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常见 system、user、gui</a:t>
            </a:r>
          </a:p>
        </p:txBody>
      </p:sp>
      <p:sp>
        <p:nvSpPr>
          <p:cNvPr id="10" name="job-concept-panel">
            <a:extLst xmlns:a="http://schemas.openxmlformats.org/drawingml/2006/main">
              <a:ext uri="{FF2B5EF4-FFF2-40B4-BE49-F238E27FC236}">
                <a16:creationId xmlns:a16="http://schemas.microsoft.com/office/drawing/2014/main" id="{CFE63617-7D0A-442D-B10A-741DF91B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job-concept-summary">
            <a:extLst xmlns:a="http://schemas.openxmlformats.org/drawingml/2006/main">
              <a:ext uri="{FF2B5EF4-FFF2-40B4-BE49-F238E27FC236}">
                <a16:creationId xmlns:a16="http://schemas.microsoft.com/office/drawing/2014/main" id="{8810CA4C-6AA6-4DEE-B768-9906CCFC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理解这三者，后续所有配置都能找到归属：写哪个 plist，定义一个 job，挂到哪个 domain。</a:t>
            </a:r>
          </a:p>
        </p:txBody>
      </p:sp>
    </p:spTree>
    <p:extLst>
      <p:ext uri="{BB962C8B-B14F-4D97-AF65-F5344CB8AC3E}">
        <p14:creationId xmlns:p14="http://schemas.microsoft.com/office/powerpoint/2010/main" val="17330014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8638E1-D4C1-4DAD-B340-8F6F3310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LaunchAgent 是替某个用户干活的自动助手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3CB8F671-2BBB-4518-B67D-958910BF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47D61B27-FA89-463C-93DE-C884A397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4" name="agent-heading">
            <a:extLst xmlns:a="http://schemas.openxmlformats.org/drawingml/2006/main">
              <a:ext uri="{FF2B5EF4-FFF2-40B4-BE49-F238E27FC236}">
                <a16:creationId xmlns:a16="http://schemas.microsoft.com/office/drawing/2014/main" id="{EADC1628-F919-4655-99A7-047A2721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LaunchAgent</a:t>
            </a:r>
          </a:p>
        </p:txBody>
      </p:sp>
      <p:sp>
        <p:nvSpPr>
          <p:cNvPr id="5" name="agent-body">
            <a:extLst xmlns:a="http://schemas.openxmlformats.org/drawingml/2006/main">
              <a:ext uri="{FF2B5EF4-FFF2-40B4-BE49-F238E27FC236}">
                <a16:creationId xmlns:a16="http://schemas.microsoft.com/office/drawing/2014/main" id="{044786FD-4E2A-4DEE-8D65-481AFCD2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143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跟用户走：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以某个登录用户的身份运行</a:t>
            </a:r>
          </a:p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可访问用户资源：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能访问该用户的主目录、钥匙串等</a:t>
            </a:r>
          </a:p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允许少量 UI：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需要时可以显示界面或通知</a:t>
            </a:r>
          </a:p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典型场景：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同步、备份、定时清理、开机自启小工具</a:t>
            </a:r>
          </a:p>
        </p:txBody>
      </p:sp>
      <p:sp>
        <p:nvSpPr>
          <p:cNvPr id="6" name="daemon-heading">
            <a:extLst xmlns:a="http://schemas.openxmlformats.org/drawingml/2006/main">
              <a:ext uri="{FF2B5EF4-FFF2-40B4-BE49-F238E27FC236}">
                <a16:creationId xmlns:a16="http://schemas.microsoft.com/office/drawing/2014/main" id="{20D5658F-3337-4F69-A9F3-5C31907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LaunchDaemon</a:t>
            </a:r>
          </a:p>
        </p:txBody>
      </p:sp>
      <p:sp>
        <p:nvSpPr>
          <p:cNvPr id="7" name="daemon-body">
            <a:extLst xmlns:a="http://schemas.openxmlformats.org/drawingml/2006/main">
              <a:ext uri="{FF2B5EF4-FFF2-40B4-BE49-F238E27FC236}">
                <a16:creationId xmlns:a16="http://schemas.microsoft.com/office/drawing/2014/main" id="{98500A71-4FCA-4CA4-B91F-59DC20D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66900"/>
            <a:ext cx="5143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跟系统走：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系统级运行，不属于某个登录用户</a:t>
            </a:r>
          </a:p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通常无 UI：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不能连接窗口服务器，适合纯后台服务</a:t>
            </a:r>
          </a:p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全局服务：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Web 服务、网络守护、系统级监控等</a:t>
            </a:r>
          </a:p>
          <a:p xmlns:a="http://schemas.openxmlformats.org/drawingml/2006/main">
            <a:pPr marL="22" indent="-12" algn="l">
              <a:lnSpc>
                <a:spcPct val="128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权限更高：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常以 root 身份运行，修改需谨慎</a:t>
            </a:r>
          </a:p>
        </p:txBody>
      </p:sp>
      <p:sp>
        <p:nvSpPr>
          <p:cNvPr id="8" name="one-liner-panel">
            <a:extLst xmlns:a="http://schemas.openxmlformats.org/drawingml/2006/main">
              <a:ext uri="{FF2B5EF4-FFF2-40B4-BE49-F238E27FC236}">
                <a16:creationId xmlns:a16="http://schemas.microsoft.com/office/drawing/2014/main" id="{60DEF10C-F89A-49C6-A954-0D294625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728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one-liner">
            <a:extLst xmlns:a="http://schemas.openxmlformats.org/drawingml/2006/main">
              <a:ext uri="{FF2B5EF4-FFF2-40B4-BE49-F238E27FC236}">
                <a16:creationId xmlns:a16="http://schemas.microsoft.com/office/drawing/2014/main" id="{81ED643C-1D04-4E2E-9496-918E008C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0515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一句话记法：Agent 跟登录用户走；Daemon 跟整台系统走。做个人自动化，优先选 Agent。</a:t>
            </a:r>
          </a:p>
        </p:txBody>
      </p:sp>
    </p:spTree>
    <p:extLst>
      <p:ext uri="{BB962C8B-B14F-4D97-AF65-F5344CB8AC3E}">
        <p14:creationId xmlns:p14="http://schemas.microsoft.com/office/powerpoint/2010/main" val="19660773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CD95A6-BD26-4487-85D8-0CBC7405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四种后台进程，别只认 LaunchAgent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9FA85D47-919A-48D8-A447-A2F74F8D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1CD4C1AF-EF04-43E5-9665-CCAF155C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0386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2095500"/>
                <a:gridCol w="2095500"/>
                <a:gridCol w="3238500"/>
                <a:gridCol w="354330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类型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由谁启动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运行上下文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能显示 UI 吗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Login item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用户登录时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可以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XPC service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launchd 按需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用户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通常不行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LaunchAgent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不推荐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LaunchDaemon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launchd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系统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不行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5" name="background-types-note">
            <a:extLst xmlns:a="http://schemas.openxmlformats.org/drawingml/2006/main">
              <a:ext uri="{FF2B5EF4-FFF2-40B4-BE49-F238E27FC236}">
                <a16:creationId xmlns:a16="http://schemas.microsoft.com/office/drawing/2014/main" id="{5E633E81-E701-4C63-8D20-1939089F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LaunchAgent 是我们今天的主角；Login item 适合“登录时打开应用”，XPC service 更适合应用内部拆分。</a:t>
            </a:r>
          </a:p>
        </p:txBody>
      </p:sp>
    </p:spTree>
    <p:extLst>
      <p:ext uri="{BB962C8B-B14F-4D97-AF65-F5344CB8AC3E}">
        <p14:creationId xmlns:p14="http://schemas.microsoft.com/office/powerpoint/2010/main" val="282768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67E9AF-7AEC-4CA3-92BE-BFC0E78D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放对目录，launchd 才知道谁、在哪运行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97CA106B-F0D0-459D-8136-8E7F427B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A1960F6-DB6C-44B6-9A82-993742B6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37338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3714750"/>
                <a:gridCol w="2667000"/>
                <a:gridCol w="459105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目录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谁安装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作用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9525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/System/Library/LaunchAgents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Apple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系统提供，所有用户登录后按用户运行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/Library/LaunchAgents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管理员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第三方 Agent，对所有用户生效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9525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~/Library/LaunchAgents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当前用户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只服务当前用户，最适合个人自动化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ocations-footnote">
            <a:extLst xmlns:a="http://schemas.openxmlformats.org/drawingml/2006/main">
              <a:ext uri="{FF2B5EF4-FFF2-40B4-BE49-F238E27FC236}">
                <a16:creationId xmlns:a16="http://schemas.microsoft.com/office/drawing/2014/main" id="{D39C602F-D232-47A1-BA0C-7EB658E9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LaunchDaemons 使用类似目录（LaunchDaemons），但面向系统级服务。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个人脚本建议放 ~/Library/LaunchAgents，避免影响其他用户。</a:t>
            </a:r>
          </a:p>
        </p:txBody>
      </p:sp>
    </p:spTree>
    <p:extLst>
      <p:ext uri="{BB962C8B-B14F-4D97-AF65-F5344CB8AC3E}">
        <p14:creationId xmlns:p14="http://schemas.microsoft.com/office/powerpoint/2010/main" val="11130038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CC9225-98F5-4005-8879-4E492A4A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plist 的 XML 结构其实不复杂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18F6CE32-71DC-41A0-9E08-B37A8689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8D0EECD4-E000-4CFA-93F3-1B8EBF73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plist-structure-code-panel">
            <a:extLst xmlns:a="http://schemas.openxmlformats.org/drawingml/2006/main">
              <a:ext uri="{FF2B5EF4-FFF2-40B4-BE49-F238E27FC236}">
                <a16:creationId xmlns:a16="http://schemas.microsoft.com/office/drawing/2014/main" id="{E74F495A-9AEC-4B2B-B4FD-C6D494E8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14450"/>
            <a:ext cx="59436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5" name="plist-structure-code">
            <a:extLst xmlns:a="http://schemas.openxmlformats.org/drawingml/2006/main">
              <a:ext uri="{FF2B5EF4-FFF2-40B4-BE49-F238E27FC236}">
                <a16:creationId xmlns:a16="http://schemas.microsoft.com/office/drawing/2014/main" id="{7B3D7BDD-1229-4202-9C81-A29B1CF5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715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&lt;?xml version="1.0" encoding="UTF-8"?&gt;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&lt;!DOCTYPE plist PUBLIC "-//Apple//DTD PLIST 1.0//EN"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"http://www.apple.com/DTDs/PropertyList-1.0.dtd"&gt;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&lt;plist version="1.0"&gt;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&lt;dict&gt;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&lt;key&gt;Label&lt;/key&gt;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&lt;string&gt;com.example.demo&lt;/string&gt;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&lt;key&gt;RunAtLoad&lt;/key&gt;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&lt;true/&gt;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&lt;key&gt;StartInterval&lt;/key&gt;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&lt;integer&gt;60&lt;/integer&gt;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&lt;/dict&gt;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&lt;/plist&gt;</a:t>
            </a:r>
          </a:p>
        </p:txBody>
      </p:sp>
      <p:sp>
        <p:nvSpPr>
          <p:cNvPr id="6" name="plist-structure-title">
            <a:extLst xmlns:a="http://schemas.openxmlformats.org/drawingml/2006/main">
              <a:ext uri="{FF2B5EF4-FFF2-40B4-BE49-F238E27FC236}">
                <a16:creationId xmlns:a16="http://schemas.microsoft.com/office/drawing/2014/main" id="{6A895572-8D3B-4DD8-BC73-C05BA92C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428750"/>
            <a:ext cx="480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怎么读</a:t>
            </a:r>
          </a:p>
        </p:txBody>
      </p:sp>
      <p:sp>
        <p:nvSpPr>
          <p:cNvPr id="7" name="plist-structure-body">
            <a:extLst xmlns:a="http://schemas.openxmlformats.org/drawingml/2006/main">
              <a:ext uri="{FF2B5EF4-FFF2-40B4-BE49-F238E27FC236}">
                <a16:creationId xmlns:a16="http://schemas.microsoft.com/office/drawing/2014/main" id="{F490DACE-9D94-484F-B887-359F59C2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8006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&lt;dict&gt;：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整个任务配置的容器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&lt;key&gt;：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配置项名称，后面紧跟一个值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值类型：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&lt;string&gt;、&lt;integer&gt;、&lt;array&gt;、&lt;dict&gt;、&lt;true/&gt;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文件名：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通常使用 Label.plist</a:t>
            </a:r>
          </a:p>
        </p:txBody>
      </p:sp>
      <p:sp>
        <p:nvSpPr>
          <p:cNvPr id="8" name="plist-structure-note">
            <a:extLst xmlns:a="http://schemas.openxmlformats.org/drawingml/2006/main">
              <a:ext uri="{FF2B5EF4-FFF2-40B4-BE49-F238E27FC236}">
                <a16:creationId xmlns:a16="http://schemas.microsoft.com/office/drawing/2014/main" id="{E308811E-35CC-49D4-91EA-7E6F075D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XML 不是魔法，只要能看懂 key 后面的值类型，就能读懂绝大多数 plist。</a:t>
            </a:r>
          </a:p>
        </p:txBody>
      </p:sp>
    </p:spTree>
    <p:extLst>
      <p:ext uri="{BB962C8B-B14F-4D97-AF65-F5344CB8AC3E}">
        <p14:creationId xmlns:p14="http://schemas.microsoft.com/office/powerpoint/2010/main" val="931270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20BEDD-4414-40F4-BDD8-29872302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plist 就是一张任务说明书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56CC516-AC8B-4879-8358-66AC8E2A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1">
            <a:extLst xmlns:a="http://schemas.openxmlformats.org/drawingml/2006/main">
              <a:ext uri="{FF2B5EF4-FFF2-40B4-BE49-F238E27FC236}">
                <a16:creationId xmlns:a16="http://schemas.microsoft.com/office/drawing/2014/main" id="{8BC838C4-710E-4AA8-9393-D4617B11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2291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2190750"/>
                <a:gridCol w="2857500"/>
                <a:gridCol w="592455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Key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作用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示例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Label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任务唯一标识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com.example.heartbeat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ProgramArguments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要执行的命令，必须是数组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/bin/sh + 脚本路径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RunAtLoad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装载后是否立即跑一次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true / false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StartInterval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每隔多少秒跑一次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300（即 5 分钟）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KeepAlive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是否常驻或异常后重启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true / false / 条件字典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list-footnote">
            <a:extLst xmlns:a="http://schemas.openxmlformats.org/drawingml/2006/main">
              <a:ext uri="{FF2B5EF4-FFF2-40B4-BE49-F238E27FC236}">
                <a16:creationId xmlns:a16="http://schemas.microsoft.com/office/drawing/2014/main" id="{9A3A458A-227B-431A-844B-9E168EA9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先掌握这五个就够日常使用；更多条件（日历时间、文件监听、日志）后面会看到。</a:t>
            </a:r>
          </a:p>
        </p:txBody>
      </p:sp>
    </p:spTree>
    <p:extLst>
      <p:ext uri="{BB962C8B-B14F-4D97-AF65-F5344CB8AC3E}">
        <p14:creationId xmlns:p14="http://schemas.microsoft.com/office/powerpoint/2010/main" val="3905192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B1BE9E-E890-42A8-AD0E-9284802D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一个最小示例：每 5 分钟写一条心跳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2B5DE9D2-94A2-461D-A3EC-091D978B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2">
            <a:extLst xmlns:a="http://schemas.openxmlformats.org/drawingml/2006/main">
              <a:ext uri="{FF2B5EF4-FFF2-40B4-BE49-F238E27FC236}">
                <a16:creationId xmlns:a16="http://schemas.microsoft.com/office/drawing/2014/main" id="{05E782F0-CD4F-4EE7-90A4-11EF13B6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4" name="sample-code-panel">
            <a:extLst xmlns:a="http://schemas.openxmlformats.org/drawingml/2006/main">
              <a:ext uri="{FF2B5EF4-FFF2-40B4-BE49-F238E27FC236}">
                <a16:creationId xmlns:a16="http://schemas.microsoft.com/office/drawing/2014/main" id="{EEE2F4CC-F844-4E04-BA30-D95DA4F1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14450"/>
            <a:ext cx="5943600" cy="422910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5" name="sample-code">
            <a:extLst xmlns:a="http://schemas.openxmlformats.org/drawingml/2006/main">
              <a:ext uri="{FF2B5EF4-FFF2-40B4-BE49-F238E27FC236}">
                <a16:creationId xmlns:a16="http://schemas.microsoft.com/office/drawing/2014/main" id="{F15BAEF6-1068-4622-8384-CDB9E14B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7150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&lt;?xml version="1.0" encoding="UTF-8"?&gt;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&lt;!DOCTYPE plist PUBLIC "-//Apple//DTD PLIST 1.0//EN"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"http://www.apple.com/DTDs/PropertyList-1.0.dtd"&gt;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&lt;plist version="1.0"&gt;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&lt;dict&gt;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&lt;key&gt;Label&lt;/key&gt;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&lt;string&gt;com.example.heartbeat&lt;/string&gt;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&lt;key&gt;ProgramArguments&lt;/key&gt;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&lt;array&gt;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  &lt;string&gt;/bin/sh&lt;/string&gt;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  &lt;string&gt;/Users/me/bin/beat.sh&lt;/string&gt;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&lt;/array&gt;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&lt;key&gt;StartInterval&lt;/key&gt;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&lt;integer&gt;300&lt;/integer&gt;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&lt;key&gt;StandardOutPath&lt;/key&gt;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&lt;string&gt;/tmp/beat.log&lt;/string&gt;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&lt;/dict&gt;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0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&lt;/plist&gt;</a:t>
            </a:r>
          </a:p>
        </p:txBody>
      </p:sp>
      <p:sp>
        <p:nvSpPr>
          <p:cNvPr id="6" name="sample-explain-title-0">
            <a:extLst xmlns:a="http://schemas.openxmlformats.org/drawingml/2006/main">
              <a:ext uri="{FF2B5EF4-FFF2-40B4-BE49-F238E27FC236}">
                <a16:creationId xmlns:a16="http://schemas.microsoft.com/office/drawing/2014/main" id="{FF0BC227-BD99-47BE-AE69-BF25DE50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4287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Label</a:t>
            </a:r>
          </a:p>
        </p:txBody>
      </p:sp>
      <p:sp>
        <p:nvSpPr>
          <p:cNvPr id="7" name="sample-explain-body-0">
            <a:extLst xmlns:a="http://schemas.openxmlformats.org/drawingml/2006/main">
              <a:ext uri="{FF2B5EF4-FFF2-40B4-BE49-F238E27FC236}">
                <a16:creationId xmlns:a16="http://schemas.microsoft.com/office/drawing/2014/main" id="{D5D799E4-9C55-4B6F-97E6-B160632E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33550"/>
            <a:ext cx="480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唯一标识，通常写成 com.你的团队.任务名。</a:t>
            </a:r>
          </a:p>
        </p:txBody>
      </p:sp>
      <p:sp>
        <p:nvSpPr>
          <p:cNvPr id="8" name="sample-explain-title-1">
            <a:extLst xmlns:a="http://schemas.openxmlformats.org/drawingml/2006/main">
              <a:ext uri="{FF2B5EF4-FFF2-40B4-BE49-F238E27FC236}">
                <a16:creationId xmlns:a16="http://schemas.microsoft.com/office/drawing/2014/main" id="{03EACC60-7A03-45B8-B33D-EEBE3FB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527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ProgramArguments</a:t>
            </a:r>
          </a:p>
        </p:txBody>
      </p:sp>
      <p:sp>
        <p:nvSpPr>
          <p:cNvPr id="9" name="sample-explain-body-1">
            <a:extLst xmlns:a="http://schemas.openxmlformats.org/drawingml/2006/main">
              <a:ext uri="{FF2B5EF4-FFF2-40B4-BE49-F238E27FC236}">
                <a16:creationId xmlns:a16="http://schemas.microsoft.com/office/drawing/2014/main" id="{BBD93967-E48E-4E0B-8360-83B68742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80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命令是一个数组：第一个元素是可执行文件，后面是参数。</a:t>
            </a:r>
          </a:p>
        </p:txBody>
      </p:sp>
      <p:sp>
        <p:nvSpPr>
          <p:cNvPr id="10" name="sample-explain-title-2">
            <a:extLst xmlns:a="http://schemas.openxmlformats.org/drawingml/2006/main">
              <a:ext uri="{FF2B5EF4-FFF2-40B4-BE49-F238E27FC236}">
                <a16:creationId xmlns:a16="http://schemas.microsoft.com/office/drawing/2014/main" id="{75E7B68D-2EB9-4DB1-ABA1-995614F4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766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StartInterval</a:t>
            </a:r>
          </a:p>
        </p:txBody>
      </p:sp>
      <p:sp>
        <p:nvSpPr>
          <p:cNvPr id="11" name="sample-explain-body-2">
            <a:extLst xmlns:a="http://schemas.openxmlformats.org/drawingml/2006/main">
              <a:ext uri="{FF2B5EF4-FFF2-40B4-BE49-F238E27FC236}">
                <a16:creationId xmlns:a16="http://schemas.microsoft.com/office/drawing/2014/main" id="{A50FE5B0-3DE2-4B94-9428-08A2D4CF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81450"/>
            <a:ext cx="480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300 表示每 300 秒执行一次；适合简单定时任务。</a:t>
            </a:r>
          </a:p>
        </p:txBody>
      </p:sp>
      <p:sp>
        <p:nvSpPr>
          <p:cNvPr id="12" name="sample-explain-title-3">
            <a:extLst xmlns:a="http://schemas.openxmlformats.org/drawingml/2006/main">
              <a:ext uri="{FF2B5EF4-FFF2-40B4-BE49-F238E27FC236}">
                <a16:creationId xmlns:a16="http://schemas.microsoft.com/office/drawing/2014/main" id="{BEA3D272-501B-4C4A-AF66-5CA202C1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006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StandardOutPath</a:t>
            </a:r>
          </a:p>
        </p:txBody>
      </p:sp>
      <p:sp>
        <p:nvSpPr>
          <p:cNvPr id="13" name="sample-explain-body-3">
            <a:extLst xmlns:a="http://schemas.openxmlformats.org/drawingml/2006/main">
              <a:ext uri="{FF2B5EF4-FFF2-40B4-BE49-F238E27FC236}">
                <a16:creationId xmlns:a16="http://schemas.microsoft.com/office/drawing/2014/main" id="{D8614607-9046-4F58-9BF3-7054B178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05400"/>
            <a:ext cx="480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把输出写到 /tmp/beat.log，出问题时才有迹可循。</a:t>
            </a:r>
          </a:p>
        </p:txBody>
      </p:sp>
    </p:spTree>
    <p:extLst>
      <p:ext uri="{BB962C8B-B14F-4D97-AF65-F5344CB8AC3E}">
        <p14:creationId xmlns:p14="http://schemas.microsoft.com/office/powerpoint/2010/main" val="13479415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C0DF74-6FE3-4D2C-92EF-7D07126A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一次启动到底发生了什么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D2E8D7F1-3EAE-4C1D-A9D5-0183FDE1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3">
            <a:extLst xmlns:a="http://schemas.openxmlformats.org/drawingml/2006/main">
              <a:ext uri="{FF2B5EF4-FFF2-40B4-BE49-F238E27FC236}">
                <a16:creationId xmlns:a16="http://schemas.microsoft.com/office/drawing/2014/main" id="{83ACB198-57A6-4C4C-976E-4FCE0F0B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4" name="flow-caption">
            <a:extLst xmlns:a="http://schemas.openxmlformats.org/drawingml/2006/main">
              <a:ext uri="{FF2B5EF4-FFF2-40B4-BE49-F238E27FC236}">
                <a16:creationId xmlns:a16="http://schemas.microsoft.com/office/drawing/2014/main" id="{313DF6E9-FB4E-42AD-A9C3-44416A8B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从配置到运行，launchd 在幕后完成这些步骤：</a:t>
            </a:r>
          </a:p>
        </p:txBody>
      </p:sp>
      <p:sp>
        <p:nvSpPr>
          <p:cNvPr id="5" name="flow-node-1">
            <a:extLst xmlns:a="http://schemas.openxmlformats.org/drawingml/2006/main">
              <a:ext uri="{FF2B5EF4-FFF2-40B4-BE49-F238E27FC236}">
                <a16:creationId xmlns:a16="http://schemas.microsoft.com/office/drawing/2014/main" id="{687F4E2E-DC36-4F46-8363-07AA774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905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6" name="flow-node-title-1">
            <a:extLst xmlns:a="http://schemas.openxmlformats.org/drawingml/2006/main">
              <a:ext uri="{FF2B5EF4-FFF2-40B4-BE49-F238E27FC236}">
                <a16:creationId xmlns:a16="http://schemas.microsoft.com/office/drawing/2014/main" id="{D9F7FBDA-8F1D-460F-8FF8-56BF457B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写入 plist</a:t>
            </a:r>
          </a:p>
        </p:txBody>
      </p:sp>
      <p:sp>
        <p:nvSpPr>
          <p:cNvPr id="7" name="flow-node-caption-1">
            <a:extLst xmlns:a="http://schemas.openxmlformats.org/drawingml/2006/main">
              <a:ext uri="{FF2B5EF4-FFF2-40B4-BE49-F238E27FC236}">
                <a16:creationId xmlns:a16="http://schemas.microsoft.com/office/drawing/2014/main" id="{684A0FA9-1806-479C-86FE-415F053F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放到 ~/Library/LaunchAgents</a:t>
            </a:r>
          </a:p>
        </p:txBody>
      </p:sp>
      <p:sp>
        <p:nvSpPr>
          <p:cNvPr id="8" name="flow-node-2">
            <a:extLst xmlns:a="http://schemas.openxmlformats.org/drawingml/2006/main">
              <a:ext uri="{FF2B5EF4-FFF2-40B4-BE49-F238E27FC236}">
                <a16:creationId xmlns:a16="http://schemas.microsoft.com/office/drawing/2014/main" id="{807B1DC2-A82A-493E-8864-267E5EB1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95550"/>
            <a:ext cx="1905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9" name="flow-node-title-2">
            <a:extLst xmlns:a="http://schemas.openxmlformats.org/drawingml/2006/main">
              <a:ext uri="{FF2B5EF4-FFF2-40B4-BE49-F238E27FC236}">
                <a16:creationId xmlns:a16="http://schemas.microsoft.com/office/drawing/2014/main" id="{EBE4059F-6D88-467F-B8B7-34DEB80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47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launchd 装载</a:t>
            </a:r>
          </a:p>
        </p:txBody>
      </p:sp>
      <p:sp>
        <p:nvSpPr>
          <p:cNvPr id="10" name="flow-node-caption-2">
            <a:extLst xmlns:a="http://schemas.openxmlformats.org/drawingml/2006/main">
              <a:ext uri="{FF2B5EF4-FFF2-40B4-BE49-F238E27FC236}">
                <a16:creationId xmlns:a16="http://schemas.microsoft.com/office/drawing/2014/main" id="{D102BCD1-ADFE-458E-862D-1CAAA60C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0990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bootstrap 注册 job</a:t>
            </a:r>
          </a:p>
        </p:txBody>
      </p:sp>
      <p:sp>
        <p:nvSpPr>
          <p:cNvPr id="11" name="flow-node-3">
            <a:extLst xmlns:a="http://schemas.openxmlformats.org/drawingml/2006/main">
              <a:ext uri="{FF2B5EF4-FFF2-40B4-BE49-F238E27FC236}">
                <a16:creationId xmlns:a16="http://schemas.microsoft.com/office/drawing/2014/main" id="{75B6F9C4-7DB9-4086-9DCE-E2374653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95550"/>
            <a:ext cx="1905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2" name="flow-node-title-3">
            <a:extLst xmlns:a="http://schemas.openxmlformats.org/drawingml/2006/main">
              <a:ext uri="{FF2B5EF4-FFF2-40B4-BE49-F238E27FC236}">
                <a16:creationId xmlns:a16="http://schemas.microsoft.com/office/drawing/2014/main" id="{7B74BFEB-BC33-456D-8C72-04D681F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47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判断条件</a:t>
            </a:r>
          </a:p>
        </p:txBody>
      </p:sp>
      <p:sp>
        <p:nvSpPr>
          <p:cNvPr id="13" name="flow-node-caption-3">
            <a:extLst xmlns:a="http://schemas.openxmlformats.org/drawingml/2006/main">
              <a:ext uri="{FF2B5EF4-FFF2-40B4-BE49-F238E27FC236}">
                <a16:creationId xmlns:a16="http://schemas.microsoft.com/office/drawing/2014/main" id="{0B8F3666-A990-4DD0-8DA8-5B4A5001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0990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RunAtLoad / 定时 / 事件</a:t>
            </a:r>
          </a:p>
        </p:txBody>
      </p:sp>
      <p:sp>
        <p:nvSpPr>
          <p:cNvPr id="14" name="flow-node-4">
            <a:extLst xmlns:a="http://schemas.openxmlformats.org/drawingml/2006/main">
              <a:ext uri="{FF2B5EF4-FFF2-40B4-BE49-F238E27FC236}">
                <a16:creationId xmlns:a16="http://schemas.microsoft.com/office/drawing/2014/main" id="{CEBA35A6-2F6D-44C6-99BE-66BE1424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95550"/>
            <a:ext cx="1905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5" name="flow-node-title-4">
            <a:extLst xmlns:a="http://schemas.openxmlformats.org/drawingml/2006/main">
              <a:ext uri="{FF2B5EF4-FFF2-40B4-BE49-F238E27FC236}">
                <a16:creationId xmlns:a16="http://schemas.microsoft.com/office/drawing/2014/main" id="{0B369E58-348E-44D5-B465-4DDA10B0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47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拉起进程</a:t>
            </a:r>
          </a:p>
        </p:txBody>
      </p:sp>
      <p:sp>
        <p:nvSpPr>
          <p:cNvPr id="16" name="flow-node-caption-4">
            <a:extLst xmlns:a="http://schemas.openxmlformats.org/drawingml/2006/main">
              <a:ext uri="{FF2B5EF4-FFF2-40B4-BE49-F238E27FC236}">
                <a16:creationId xmlns:a16="http://schemas.microsoft.com/office/drawing/2014/main" id="{940ABE7C-C566-4E3E-B2E9-22F1B398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0990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按 ProgramArguments 执行</a:t>
            </a:r>
          </a:p>
        </p:txBody>
      </p:sp>
      <p:sp>
        <p:nvSpPr>
          <p:cNvPr id="17" name="flow-node-5">
            <a:extLst xmlns:a="http://schemas.openxmlformats.org/drawingml/2006/main">
              <a:ext uri="{FF2B5EF4-FFF2-40B4-BE49-F238E27FC236}">
                <a16:creationId xmlns:a16="http://schemas.microsoft.com/office/drawing/2014/main" id="{8F3B9BA0-ABA5-4674-A808-754D5723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95550"/>
            <a:ext cx="1905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8" name="flow-node-title-5">
            <a:extLst xmlns:a="http://schemas.openxmlformats.org/drawingml/2006/main">
              <a:ext uri="{FF2B5EF4-FFF2-40B4-BE49-F238E27FC236}">
                <a16:creationId xmlns:a16="http://schemas.microsoft.com/office/drawing/2014/main" id="{97F81813-0BEC-4BBE-844B-2843CB66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47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运行与收尾</a:t>
            </a:r>
          </a:p>
        </p:txBody>
      </p:sp>
      <p:sp>
        <p:nvSpPr>
          <p:cNvPr id="19" name="flow-node-caption-5">
            <a:extLst xmlns:a="http://schemas.openxmlformats.org/drawingml/2006/main">
              <a:ext uri="{FF2B5EF4-FFF2-40B4-BE49-F238E27FC236}">
                <a16:creationId xmlns:a16="http://schemas.microsoft.com/office/drawing/2014/main" id="{AB4EA2B5-0FC5-41B9-8567-B5C60B5B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0990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写日志，退出或重启</a:t>
            </a:r>
          </a:p>
        </p:txBody>
      </p:sp>
      <p:cxnSp>
        <p:nvCxnSpPr>
          <p:cNvPr id="4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14600" y="30289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headEnd type="arrow" w="med" len="med"/>
          </a:ln>
        </p:spPr>
      </p:cxnSp>
      <p:cxnSp>
        <p:nvCxnSpPr>
          <p:cNvPr id="46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743450" y="30289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headEnd type="arrow" w="med" len="med"/>
          </a:ln>
        </p:spPr>
      </p:cxnSp>
      <p:cxnSp>
        <p:nvCxnSpPr>
          <p:cNvPr id="47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72300" y="30289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headEnd type="arrow" w="med" len="med"/>
          </a:ln>
        </p:spPr>
      </p:cxnSp>
      <p:cxnSp>
        <p:nvCxnSpPr>
          <p:cNvPr id="48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201150" y="30289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headEnd type="arrow" w="med" len="med"/>
          </a:ln>
        </p:spPr>
      </p:cxnSp>
      <p:sp>
        <p:nvSpPr>
          <p:cNvPr id="24" name="flow-note-panel">
            <a:extLst xmlns:a="http://schemas.openxmlformats.org/drawingml/2006/main">
              <a:ext uri="{FF2B5EF4-FFF2-40B4-BE49-F238E27FC236}">
                <a16:creationId xmlns:a16="http://schemas.microsoft.com/office/drawing/2014/main" id="{36797DC7-4A1A-4097-A7EE-D27E0693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5" name="flow-note">
            <a:extLst xmlns:a="http://schemas.openxmlformats.org/drawingml/2006/main">
              <a:ext uri="{FF2B5EF4-FFF2-40B4-BE49-F238E27FC236}">
                <a16:creationId xmlns:a16="http://schemas.microsoft.com/office/drawing/2014/main" id="{E1C5E976-726C-4193-96E6-CD4F024E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装载不等于运行：只有 RunAtLoad、KeepAlive 或某个触发条件满足时，launchd 才真正启动进程。</a:t>
            </a:r>
          </a:p>
        </p:txBody>
      </p:sp>
    </p:spTree>
    <p:extLst>
      <p:ext uri="{BB962C8B-B14F-4D97-AF65-F5344CB8AC3E}">
        <p14:creationId xmlns:p14="http://schemas.microsoft.com/office/powerpoint/2010/main" val="16517261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BC3E4A-C265-4358-BCFB-9E5F9C9E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用 launchctl 装载、检查、重跑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B7E762D3-8A7E-49D1-99DB-AD297F8A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4">
            <a:extLst xmlns:a="http://schemas.openxmlformats.org/drawingml/2006/main">
              <a:ext uri="{FF2B5EF4-FFF2-40B4-BE49-F238E27FC236}">
                <a16:creationId xmlns:a16="http://schemas.microsoft.com/office/drawing/2014/main" id="{09A39123-2D7F-48B3-AA52-9382B11C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" name="commands-left-title">
            <a:extLst xmlns:a="http://schemas.openxmlformats.org/drawingml/2006/main">
              <a:ext uri="{FF2B5EF4-FFF2-40B4-BE49-F238E27FC236}">
                <a16:creationId xmlns:a16="http://schemas.microsoft.com/office/drawing/2014/main" id="{7AE45242-6FC7-4892-9590-D18E793C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装载与卸载</a:t>
            </a:r>
          </a:p>
        </p:txBody>
      </p:sp>
      <p:sp>
        <p:nvSpPr>
          <p:cNvPr id="5" name="commands-left-code-panel">
            <a:extLst xmlns:a="http://schemas.openxmlformats.org/drawingml/2006/main">
              <a:ext uri="{FF2B5EF4-FFF2-40B4-BE49-F238E27FC236}">
                <a16:creationId xmlns:a16="http://schemas.microsoft.com/office/drawing/2014/main" id="{A4D91E85-70A9-4D38-9E61-A31312FD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53721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6" name="commands-left-code">
            <a:extLst xmlns:a="http://schemas.openxmlformats.org/drawingml/2006/main">
              <a:ext uri="{FF2B5EF4-FFF2-40B4-BE49-F238E27FC236}">
                <a16:creationId xmlns:a16="http://schemas.microsoft.com/office/drawing/2014/main" id="{903FFDC1-E13A-43B4-B609-1B383E9D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5143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launchctl bootstrap gui/$(id -u) \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~/Library/LaunchAgents/com.example.heartbeat.plist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launchctl bootout gui/$(id -u)/com.example.heartbeat</a:t>
            </a:r>
          </a:p>
        </p:txBody>
      </p:sp>
      <p:sp>
        <p:nvSpPr>
          <p:cNvPr id="7" name="commands-left-note">
            <a:extLst xmlns:a="http://schemas.openxmlformats.org/drawingml/2006/main">
              <a:ext uri="{FF2B5EF4-FFF2-40B4-BE49-F238E27FC236}">
                <a16:creationId xmlns:a16="http://schemas.microsoft.com/office/drawing/2014/main" id="{157965E8-E06B-4055-9047-9C673E64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514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现代写法用 bootstrap / bootout；旧的 load / unload 不推荐再用于日常管理。</a:t>
            </a:r>
          </a:p>
        </p:txBody>
      </p:sp>
      <p:sp>
        <p:nvSpPr>
          <p:cNvPr id="8" name="commands-right-title">
            <a:extLst xmlns:a="http://schemas.openxmlformats.org/drawingml/2006/main">
              <a:ext uri="{FF2B5EF4-FFF2-40B4-BE49-F238E27FC236}">
                <a16:creationId xmlns:a16="http://schemas.microsoft.com/office/drawing/2014/main" id="{8F44F5D3-9AD7-47A2-9AF8-6AC3A103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检查与重跑</a:t>
            </a:r>
          </a:p>
        </p:txBody>
      </p:sp>
      <p:sp>
        <p:nvSpPr>
          <p:cNvPr id="9" name="commands-right-code-panel">
            <a:extLst xmlns:a="http://schemas.openxmlformats.org/drawingml/2006/main">
              <a:ext uri="{FF2B5EF4-FFF2-40B4-BE49-F238E27FC236}">
                <a16:creationId xmlns:a16="http://schemas.microsoft.com/office/drawing/2014/main" id="{9D194093-D824-427A-9E13-01171109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53721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0" name="commands-right-code">
            <a:extLst xmlns:a="http://schemas.openxmlformats.org/drawingml/2006/main">
              <a:ext uri="{FF2B5EF4-FFF2-40B4-BE49-F238E27FC236}">
                <a16:creationId xmlns:a16="http://schemas.microsoft.com/office/drawing/2014/main" id="{7FE07B11-8463-4CB3-B421-47EF8AC0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24050"/>
            <a:ext cx="5143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launchctl print gui/$(id -u)/com.example.heartbeat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launchctl kickstart -k gui/$(id -u)/com.example.heartbeat</a:t>
            </a:r>
          </a:p>
        </p:txBody>
      </p:sp>
      <p:sp>
        <p:nvSpPr>
          <p:cNvPr id="11" name="commands-right-note">
            <a:extLst xmlns:a="http://schemas.openxmlformats.org/drawingml/2006/main">
              <a:ext uri="{FF2B5EF4-FFF2-40B4-BE49-F238E27FC236}">
                <a16:creationId xmlns:a16="http://schemas.microsoft.com/office/drawing/2014/main" id="{F88E7119-CF16-4B9D-BE54-1BC18DBE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24250"/>
            <a:ext cx="514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print 看状态与上次退出码；kickstart -k 先结束旧进程再立即启动，适合验证改动。</a:t>
            </a:r>
          </a:p>
        </p:txBody>
      </p:sp>
    </p:spTree>
    <p:extLst>
      <p:ext uri="{BB962C8B-B14F-4D97-AF65-F5344CB8AC3E}">
        <p14:creationId xmlns:p14="http://schemas.microsoft.com/office/powerpoint/2010/main" val="26061964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272114-23EB-46C4-A143-AC123EB3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什么时候跑，由这些条件决定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13B58E8E-9114-43C5-8858-5CA11388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5">
            <a:extLst xmlns:a="http://schemas.openxmlformats.org/drawingml/2006/main">
              <a:ext uri="{FF2B5EF4-FFF2-40B4-BE49-F238E27FC236}">
                <a16:creationId xmlns:a16="http://schemas.microsoft.com/office/drawing/2014/main" id="{D191A522-E6EA-4FC5-9AA6-8CB900C2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4" name="triggers-left-title">
            <a:extLst xmlns:a="http://schemas.openxmlformats.org/drawingml/2006/main">
              <a:ext uri="{FF2B5EF4-FFF2-40B4-BE49-F238E27FC236}">
                <a16:creationId xmlns:a16="http://schemas.microsoft.com/office/drawing/2014/main" id="{F5A9FDB0-A38C-44DA-95BF-A85ED561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按时间</a:t>
            </a:r>
          </a:p>
        </p:txBody>
      </p:sp>
      <p:sp>
        <p:nvSpPr>
          <p:cNvPr id="5" name="triggers-left-body">
            <a:extLst xmlns:a="http://schemas.openxmlformats.org/drawingml/2006/main">
              <a:ext uri="{FF2B5EF4-FFF2-40B4-BE49-F238E27FC236}">
                <a16:creationId xmlns:a16="http://schemas.microsoft.com/office/drawing/2014/main" id="{4D10D03F-0B3C-46A9-A9DA-4458C35B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RunAtLoad：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装载后立即执行一次，适合登录时初始化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StartInterval：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每 N 秒执行一次，简单但不够省电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StartCalendarInterval：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像 cron 一样按日历触发，如每天 03:00</a:t>
            </a:r>
          </a:p>
        </p:txBody>
      </p:sp>
      <p:sp>
        <p:nvSpPr>
          <p:cNvPr id="6" name="triggers-right-title">
            <a:extLst xmlns:a="http://schemas.openxmlformats.org/drawingml/2006/main">
              <a:ext uri="{FF2B5EF4-FFF2-40B4-BE49-F238E27FC236}">
                <a16:creationId xmlns:a16="http://schemas.microsoft.com/office/drawing/2014/main" id="{1FF9CA95-527E-45EA-80CA-CFC98834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按事件</a:t>
            </a:r>
          </a:p>
        </p:txBody>
      </p:sp>
      <p:sp>
        <p:nvSpPr>
          <p:cNvPr id="7" name="triggers-right-body">
            <a:extLst xmlns:a="http://schemas.openxmlformats.org/drawingml/2006/main">
              <a:ext uri="{FF2B5EF4-FFF2-40B4-BE49-F238E27FC236}">
                <a16:creationId xmlns:a16="http://schemas.microsoft.com/office/drawing/2014/main" id="{8A047E99-93BD-479D-B335-54ACDD93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WatchPaths：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监听文件或目录变化后触发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Sockets：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有网络连接时按需启动服务</a:t>
            </a:r>
          </a:p>
          <a:p xmlns:a="http://schemas.openxmlformats.org/drawingml/2006/main">
            <a:pPr marL="22" indent="-12" algn="l">
              <a:lnSpc>
                <a:spcPct val="130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KeepAlive：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常驻、异常退出后重启，使用要克制</a:t>
            </a:r>
          </a:p>
        </p:txBody>
      </p:sp>
      <p:sp>
        <p:nvSpPr>
          <p:cNvPr id="8" name="triggers-note">
            <a:extLst xmlns:a="http://schemas.openxmlformats.org/drawingml/2006/main">
              <a:ext uri="{FF2B5EF4-FFF2-40B4-BE49-F238E27FC236}">
                <a16:creationId xmlns:a16="http://schemas.microsoft.com/office/drawing/2014/main" id="{3DD90EFD-78B1-4B2B-954B-1327C948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优先用明确条件；能用定时或事件触发，就不要盲目 KeepAlive=true。</a:t>
            </a:r>
          </a:p>
        </p:txBody>
      </p:sp>
    </p:spTree>
    <p:extLst>
      <p:ext uri="{BB962C8B-B14F-4D97-AF65-F5344CB8AC3E}">
        <p14:creationId xmlns:p14="http://schemas.microsoft.com/office/powerpoint/2010/main" val="1594999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980B4C-943F-4C31-9269-351D3B45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KeepAlive：常驻与自动重启的策略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581F2867-9F4E-47C7-A2DA-5564129E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6">
            <a:extLst xmlns:a="http://schemas.openxmlformats.org/drawingml/2006/main">
              <a:ext uri="{FF2B5EF4-FFF2-40B4-BE49-F238E27FC236}">
                <a16:creationId xmlns:a16="http://schemas.microsoft.com/office/drawing/2014/main" id="{F597E9AA-D179-4C17-8187-3DC79554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4" name="keepalive-left-title">
            <a:extLst xmlns:a="http://schemas.openxmlformats.org/drawingml/2006/main">
              <a:ext uri="{FF2B5EF4-FFF2-40B4-BE49-F238E27FC236}">
                <a16:creationId xmlns:a16="http://schemas.microsoft.com/office/drawing/2014/main" id="{1CA4F46A-AFEA-4434-B522-FA82ED22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什么时候用</a:t>
            </a:r>
          </a:p>
        </p:txBody>
      </p:sp>
      <p:sp>
        <p:nvSpPr>
          <p:cNvPr id="5" name="keepalive-left-body">
            <a:extLst xmlns:a="http://schemas.openxmlformats.org/drawingml/2006/main">
              <a:ext uri="{FF2B5EF4-FFF2-40B4-BE49-F238E27FC236}">
                <a16:creationId xmlns:a16="http://schemas.microsoft.com/office/drawing/2014/main" id="{723B1286-7805-4391-8983-1832CBC9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常驻服务：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代理、监控、同步守护进程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异常拉起：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进程崩溃后希望自动重启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不适用：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执行完就退出的定时任务</a:t>
            </a:r>
          </a:p>
        </p:txBody>
      </p:sp>
      <p:sp>
        <p:nvSpPr>
          <p:cNvPr id="6" name="keepalive-right-title">
            <a:extLst xmlns:a="http://schemas.openxmlformats.org/drawingml/2006/main">
              <a:ext uri="{FF2B5EF4-FFF2-40B4-BE49-F238E27FC236}">
                <a16:creationId xmlns:a16="http://schemas.microsoft.com/office/drawing/2014/main" id="{91A139D1-325C-42D1-A472-7681F631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三种常见写法</a:t>
            </a:r>
          </a:p>
        </p:txBody>
      </p:sp>
      <p:sp>
        <p:nvSpPr>
          <p:cNvPr id="7" name="keepalive-right-body">
            <a:extLst xmlns:a="http://schemas.openxmlformats.org/drawingml/2006/main">
              <a:ext uri="{FF2B5EF4-FFF2-40B4-BE49-F238E27FC236}">
                <a16:creationId xmlns:a16="http://schemas.microsoft.com/office/drawing/2014/main" id="{5DB9FA21-81F0-4874-A031-625F28EA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KeepAlive=true：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无条件保持运行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SuccessfulExit=false：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非零退出时重启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PathState={…}：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指定路径存在时保持运行</a:t>
            </a:r>
          </a:p>
        </p:txBody>
      </p:sp>
      <p:sp>
        <p:nvSpPr>
          <p:cNvPr id="8" name="keepalive-note-panel">
            <a:extLst xmlns:a="http://schemas.openxmlformats.org/drawingml/2006/main">
              <a:ext uri="{FF2B5EF4-FFF2-40B4-BE49-F238E27FC236}">
                <a16:creationId xmlns:a16="http://schemas.microsoft.com/office/drawing/2014/main" id="{BFF5C6DE-1A2F-4486-9664-85A65C58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keepalive-note">
            <a:extLst xmlns:a="http://schemas.openxmlformats.org/drawingml/2006/main">
              <a:ext uri="{FF2B5EF4-FFF2-40B4-BE49-F238E27FC236}">
                <a16:creationId xmlns:a16="http://schemas.microsoft.com/office/drawing/2014/main" id="{0D5E597E-774D-494F-9165-92F9A2E0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KeepAlive 不等于“任务一直跑”；它是告诉 launchd：满足条件时要把进程重新拉起。</a:t>
            </a:r>
          </a:p>
        </p:txBody>
      </p:sp>
    </p:spTree>
    <p:extLst>
      <p:ext uri="{BB962C8B-B14F-4D97-AF65-F5344CB8AC3E}">
        <p14:creationId xmlns:p14="http://schemas.microsoft.com/office/powerpoint/2010/main" val="151872947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A25EC3-49D4-439A-A9F1-9EB28D22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domain 决定任务挂在哪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CDA1A096-E387-4376-9562-3F40B93A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7">
            <a:extLst xmlns:a="http://schemas.openxmlformats.org/drawingml/2006/main">
              <a:ext uri="{FF2B5EF4-FFF2-40B4-BE49-F238E27FC236}">
                <a16:creationId xmlns:a16="http://schemas.microsoft.com/office/drawing/2014/main" id="{DB9A8A98-EB12-4CCB-B282-8233D17E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0386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1714500"/>
                <a:gridCol w="2095500"/>
                <a:gridCol w="716280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domain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作用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system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全局系统域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LaunchDaemons 通常挂这里，修改需要 sudo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user/&lt;uid&gt;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用户域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用户级服务，不依赖 GUI 登录也存在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gui/&lt;uid&gt;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 登录域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LaunchAgents 常用，能访问当前用户 GUI 服务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pid/&lt;pid&gt;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进程域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某个进程可见的 XPC 服务集合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5" name="domains-note">
            <a:extLst xmlns:a="http://schemas.openxmlformats.org/drawingml/2006/main">
              <a:ext uri="{FF2B5EF4-FFF2-40B4-BE49-F238E27FC236}">
                <a16:creationId xmlns:a16="http://schemas.microsoft.com/office/drawing/2014/main" id="{F8E3F560-716C-43FC-A19F-B23C1F6F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LaunchAgent 最常用 gui/$(id -u)；LaunchDaemon 则使用 system。</a:t>
            </a:r>
          </a:p>
        </p:txBody>
      </p:sp>
    </p:spTree>
    <p:extLst>
      <p:ext uri="{BB962C8B-B14F-4D97-AF65-F5344CB8AC3E}">
        <p14:creationId xmlns:p14="http://schemas.microsoft.com/office/powerpoint/2010/main" val="3757469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A21E3D-C162-4005-998C-2F515ABF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守护进程管理：LaunchDaemon 怎么管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73295B41-00B0-4F47-A8CE-E1075275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8">
            <a:extLst xmlns:a="http://schemas.openxmlformats.org/drawingml/2006/main">
              <a:ext uri="{FF2B5EF4-FFF2-40B4-BE49-F238E27FC236}">
                <a16:creationId xmlns:a16="http://schemas.microsoft.com/office/drawing/2014/main" id="{136F4BD4-B6BC-439C-9B52-904E7C5A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4" name="daemon-mgmt-left-title">
            <a:extLst xmlns:a="http://schemas.openxmlformats.org/drawingml/2006/main">
              <a:ext uri="{FF2B5EF4-FFF2-40B4-BE49-F238E27FC236}">
                <a16:creationId xmlns:a16="http://schemas.microsoft.com/office/drawing/2014/main" id="{5CCEB14D-8AD2-42A7-953D-EC0D0A1A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与 Agent 的区别</a:t>
            </a:r>
          </a:p>
        </p:txBody>
      </p:sp>
      <p:sp>
        <p:nvSpPr>
          <p:cNvPr id="5" name="daemon-mgmt-left-body">
            <a:extLst xmlns:a="http://schemas.openxmlformats.org/drawingml/2006/main">
              <a:ext uri="{FF2B5EF4-FFF2-40B4-BE49-F238E27FC236}">
                <a16:creationId xmlns:a16="http://schemas.microsoft.com/office/drawing/2014/main" id="{D97D41DE-992C-4407-99D0-4C70477D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系统级运行：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通常 root，或由 UserName 指定用户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不能显示 UI：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无法连接窗口服务器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目录不同：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/Library/LaunchDaemons、/System/Library/LaunchDaemons</a:t>
            </a:r>
          </a:p>
        </p:txBody>
      </p:sp>
      <p:sp>
        <p:nvSpPr>
          <p:cNvPr id="6" name="daemon-mgmt-right-title">
            <a:extLst xmlns:a="http://schemas.openxmlformats.org/drawingml/2006/main">
              <a:ext uri="{FF2B5EF4-FFF2-40B4-BE49-F238E27FC236}">
                <a16:creationId xmlns:a16="http://schemas.microsoft.com/office/drawing/2014/main" id="{FF1BE7DD-728D-40A0-BA03-6C6A571B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常用管理命令</a:t>
            </a:r>
          </a:p>
        </p:txBody>
      </p:sp>
      <p:sp>
        <p:nvSpPr>
          <p:cNvPr id="7" name="daemon-mgmt-code-panel">
            <a:extLst xmlns:a="http://schemas.openxmlformats.org/drawingml/2006/main">
              <a:ext uri="{FF2B5EF4-FFF2-40B4-BE49-F238E27FC236}">
                <a16:creationId xmlns:a16="http://schemas.microsoft.com/office/drawing/2014/main" id="{164C58BA-03BA-4546-A660-46091D20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5372100" cy="22288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8" name="daemon-mgmt-code">
            <a:extLst xmlns:a="http://schemas.openxmlformats.org/drawingml/2006/main">
              <a:ext uri="{FF2B5EF4-FFF2-40B4-BE49-F238E27FC236}">
                <a16:creationId xmlns:a16="http://schemas.microsoft.com/office/drawing/2014/main" id="{FAE57BF1-52E3-4E0A-ACE7-6A167B2C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24050"/>
            <a:ext cx="5143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sudo launchctl bootstrap system \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/Library/LaunchDaemons/com.example.daemon.plist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sudo launchctl bootout system/com.example.daemon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125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sudo launchctl print system/com.example.daemon</a:t>
            </a:r>
          </a:p>
        </p:txBody>
      </p:sp>
      <p:sp>
        <p:nvSpPr>
          <p:cNvPr id="9" name="daemon-mgmt-note-panel">
            <a:extLst xmlns:a="http://schemas.openxmlformats.org/drawingml/2006/main">
              <a:ext uri="{FF2B5EF4-FFF2-40B4-BE49-F238E27FC236}">
                <a16:creationId xmlns:a16="http://schemas.microsoft.com/office/drawing/2014/main" id="{3096AEEC-0ED7-402A-B110-90BB8835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daemon-mgmt-note">
            <a:extLst xmlns:a="http://schemas.openxmlformats.org/drawingml/2006/main">
              <a:ext uri="{FF2B5EF4-FFF2-40B4-BE49-F238E27FC236}">
                <a16:creationId xmlns:a16="http://schemas.microsoft.com/office/drawing/2014/main" id="{5E25CAC2-7828-4CF5-BDA3-9AB3EC7A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Daemon plist 应属 root:wheel，且不允许组或其他用户可写；修改前先备份。</a:t>
            </a:r>
          </a:p>
        </p:txBody>
      </p:sp>
    </p:spTree>
    <p:extLst>
      <p:ext uri="{BB962C8B-B14F-4D97-AF65-F5344CB8AC3E}">
        <p14:creationId xmlns:p14="http://schemas.microsoft.com/office/powerpoint/2010/main" val="206738238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DEB511-6AEE-4609-928D-1DD88B91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把运行环境配清楚，排障省一半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5E2F944D-C264-4227-89D7-6667639B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19">
            <a:extLst xmlns:a="http://schemas.openxmlformats.org/drawingml/2006/main">
              <a:ext uri="{FF2B5EF4-FFF2-40B4-BE49-F238E27FC236}">
                <a16:creationId xmlns:a16="http://schemas.microsoft.com/office/drawing/2014/main" id="{34BEE395-08F7-4176-B069-2D644DF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4" name="logging-left-title">
            <a:extLst xmlns:a="http://schemas.openxmlformats.org/drawingml/2006/main">
              <a:ext uri="{FF2B5EF4-FFF2-40B4-BE49-F238E27FC236}">
                <a16:creationId xmlns:a16="http://schemas.microsoft.com/office/drawing/2014/main" id="{393B47CE-5C0D-4569-9DCA-F2B7C7CD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日志与工作目录</a:t>
            </a:r>
          </a:p>
        </p:txBody>
      </p:sp>
      <p:sp>
        <p:nvSpPr>
          <p:cNvPr id="5" name="logging-left-body">
            <a:extLst xmlns:a="http://schemas.openxmlformats.org/drawingml/2006/main">
              <a:ext uri="{FF2B5EF4-FFF2-40B4-BE49-F238E27FC236}">
                <a16:creationId xmlns:a16="http://schemas.microsoft.com/office/drawing/2014/main" id="{98D15DF9-8BF3-41CE-82E9-B3F127F4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StandardOutPath：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把 stdout 写入文件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StandardErrorPath：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把 stderr 写入文件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WorkingDirectory：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设置任务工作目录，避免依赖 ~</a:t>
            </a:r>
          </a:p>
        </p:txBody>
      </p:sp>
      <p:sp>
        <p:nvSpPr>
          <p:cNvPr id="6" name="logging-right-title">
            <a:extLst xmlns:a="http://schemas.openxmlformats.org/drawingml/2006/main">
              <a:ext uri="{FF2B5EF4-FFF2-40B4-BE49-F238E27FC236}">
                <a16:creationId xmlns:a16="http://schemas.microsoft.com/office/drawing/2014/main" id="{6C6C8AFD-BF25-4B01-8EE3-42B9C83F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环境与资源</a:t>
            </a:r>
          </a:p>
        </p:txBody>
      </p:sp>
      <p:sp>
        <p:nvSpPr>
          <p:cNvPr id="7" name="logging-right-body">
            <a:extLst xmlns:a="http://schemas.openxmlformats.org/drawingml/2006/main">
              <a:ext uri="{FF2B5EF4-FFF2-40B4-BE49-F238E27FC236}">
                <a16:creationId xmlns:a16="http://schemas.microsoft.com/office/drawing/2014/main" id="{CBB15E44-0872-4DC0-85B4-BC2B69AF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EnvironmentVariables：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显式设置 PATH 等变量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ProcessType：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Background / Standard / Adaptive / Interactive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ResourceLimits：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限制 CPU、文件大小、内存等资源</a:t>
            </a:r>
          </a:p>
        </p:txBody>
      </p:sp>
      <p:sp>
        <p:nvSpPr>
          <p:cNvPr id="8" name="logging-note">
            <a:extLst xmlns:a="http://schemas.openxmlformats.org/drawingml/2006/main">
              <a:ext uri="{FF2B5EF4-FFF2-40B4-BE49-F238E27FC236}">
                <a16:creationId xmlns:a16="http://schemas.microsoft.com/office/drawing/2014/main" id="{2D8EFEB4-E451-45C3-ACEA-4AD44505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不要依赖交互式 shell 的 PATH；LaunchAgent 环境更干净。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把日志路径写成绝对路径，并确保目标目录可写。</a:t>
            </a:r>
          </a:p>
        </p:txBody>
      </p:sp>
    </p:spTree>
    <p:extLst>
      <p:ext uri="{BB962C8B-B14F-4D97-AF65-F5344CB8AC3E}">
        <p14:creationId xmlns:p14="http://schemas.microsoft.com/office/powerpoint/2010/main" val="122397831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1038CD-B086-4333-85F4-934E9C6F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TCC 与文件权限：为什么 Terminal 能跑，Agent 不行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AF9D50F-69E8-4F0F-B905-9422DCB9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20">
            <a:extLst xmlns:a="http://schemas.openxmlformats.org/drawingml/2006/main">
              <a:ext uri="{FF2B5EF4-FFF2-40B4-BE49-F238E27FC236}">
                <a16:creationId xmlns:a16="http://schemas.microsoft.com/office/drawing/2014/main" id="{720D32BD-8EAE-46D0-B865-49BF28B4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4" name="privacy-left-title">
            <a:extLst xmlns:a="http://schemas.openxmlformats.org/drawingml/2006/main">
              <a:ext uri="{FF2B5EF4-FFF2-40B4-BE49-F238E27FC236}">
                <a16:creationId xmlns:a16="http://schemas.microsoft.com/office/drawing/2014/main" id="{02E55FFB-7777-4DB3-85DB-F31A5882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容易踩到</a:t>
            </a:r>
          </a:p>
        </p:txBody>
      </p:sp>
      <p:sp>
        <p:nvSpPr>
          <p:cNvPr id="5" name="privacy-left-body">
            <a:extLst xmlns:a="http://schemas.openxmlformats.org/drawingml/2006/main">
              <a:ext uri="{FF2B5EF4-FFF2-40B4-BE49-F238E27FC236}">
                <a16:creationId xmlns:a16="http://schemas.microsoft.com/office/drawing/2014/main" id="{531DAF36-DBB2-48A2-B1DC-5B677570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敏感目录：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桌面、文稿、下载、照片等需要授权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环境差异：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后台进程不像 Terminal 已拥有部分权限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静默失败：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权限不足时任务可能不运行或读不到文件</a:t>
            </a:r>
          </a:p>
        </p:txBody>
      </p:sp>
      <p:sp>
        <p:nvSpPr>
          <p:cNvPr id="6" name="privacy-right-title">
            <a:extLst xmlns:a="http://schemas.openxmlformats.org/drawingml/2006/main">
              <a:ext uri="{FF2B5EF4-FFF2-40B4-BE49-F238E27FC236}">
                <a16:creationId xmlns:a16="http://schemas.microsoft.com/office/drawing/2014/main" id="{0C1EB8F3-ABBA-48BB-B5C1-6DC7C83D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怎么处理</a:t>
            </a:r>
          </a:p>
        </p:txBody>
      </p:sp>
      <p:sp>
        <p:nvSpPr>
          <p:cNvPr id="7" name="privacy-right-body">
            <a:extLst xmlns:a="http://schemas.openxmlformats.org/drawingml/2006/main">
              <a:ext uri="{FF2B5EF4-FFF2-40B4-BE49-F238E27FC236}">
                <a16:creationId xmlns:a16="http://schemas.microsoft.com/office/drawing/2014/main" id="{05DBE565-A7FD-4CDD-9B00-753D4E7E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绝对路径：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所有命令和文件路径都写全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检查授权：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系统设置 &gt; 隐私与安全性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看状态：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launchctl print 查看上次退出码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最小授权：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Full Disk Access 只给真正需要的工具</a:t>
            </a:r>
          </a:p>
        </p:txBody>
      </p:sp>
      <p:sp>
        <p:nvSpPr>
          <p:cNvPr id="8" name="privacy-note-panel">
            <a:extLst xmlns:a="http://schemas.openxmlformats.org/drawingml/2006/main">
              <a:ext uri="{FF2B5EF4-FFF2-40B4-BE49-F238E27FC236}">
                <a16:creationId xmlns:a16="http://schemas.microsoft.com/office/drawing/2014/main" id="{860C1F69-A602-4B2D-A9C3-9681040C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privacy-note">
            <a:extLst xmlns:a="http://schemas.openxmlformats.org/drawingml/2006/main">
              <a:ext uri="{FF2B5EF4-FFF2-40B4-BE49-F238E27FC236}">
                <a16:creationId xmlns:a16="http://schemas.microsoft.com/office/drawing/2014/main" id="{DD925D37-03F4-4A40-88A7-2C0DEFC7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LaunchAgent 受 macOS 隐私保护；访问敏感目录前，先确认授权，而不是先怀疑脚本。</a:t>
            </a:r>
          </a:p>
        </p:txBody>
      </p:sp>
    </p:spTree>
    <p:extLst>
      <p:ext uri="{BB962C8B-B14F-4D97-AF65-F5344CB8AC3E}">
        <p14:creationId xmlns:p14="http://schemas.microsoft.com/office/powerpoint/2010/main" val="121825125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6DC86D-8E26-4107-AB33-BDB74556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从手动脚本到 LaunchAgent 的五步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9889C079-C487-40A2-BC10-1A190D8F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21">
            <a:extLst xmlns:a="http://schemas.openxmlformats.org/drawingml/2006/main">
              <a:ext uri="{FF2B5EF4-FFF2-40B4-BE49-F238E27FC236}">
                <a16:creationId xmlns:a16="http://schemas.microsoft.com/office/drawing/2014/main" id="{73F9247B-F650-4B97-8B11-7B7DA2CF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2291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762000"/>
                <a:gridCol w="2952750"/>
                <a:gridCol w="725805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步骤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动作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命令 / 文件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写脚本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~/bin/cleanup.sh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加执行权限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chmod +x ~/bin/cleanup.sh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写配置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~/Library/LaunchAgents/com.example.cleanup.plist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装载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launchctl bootstrap gui/$(id -u) ~/Library/LaunchAgents/com.example.cleanup.plist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2390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验证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Menlo"/>
                          <a:ea typeface="Menlo"/>
                          <a:cs typeface="Menlo"/>
                        </a:rPr>
                        <a:t>launchctl print gui/$(id -u)/com.example.cleanup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orkflow-note">
            <a:extLst xmlns:a="http://schemas.openxmlformats.org/drawingml/2006/main">
              <a:ext uri="{FF2B5EF4-FFF2-40B4-BE49-F238E27FC236}">
                <a16:creationId xmlns:a16="http://schemas.microsoft.com/office/drawing/2014/main" id="{8C48320D-72A0-4121-833F-9F9E430D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第 3 步写完后，先 plutil -lint 校验，再执行第 4 步装载。</a:t>
            </a:r>
          </a:p>
        </p:txBody>
      </p:sp>
    </p:spTree>
    <p:extLst>
      <p:ext uri="{BB962C8B-B14F-4D97-AF65-F5344CB8AC3E}">
        <p14:creationId xmlns:p14="http://schemas.microsoft.com/office/powerpoint/2010/main" val="144967799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D2AC66-3F9E-4A9E-9F2A-E6C793D6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任务没跑起来？按四步排查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E2CA9A3-B606-4B6D-B19A-1D07CB23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22">
            <a:extLst xmlns:a="http://schemas.openxmlformats.org/drawingml/2006/main">
              <a:ext uri="{FF2B5EF4-FFF2-40B4-BE49-F238E27FC236}">
                <a16:creationId xmlns:a16="http://schemas.microsoft.com/office/drawing/2014/main" id="{24F5F9EF-E03A-45E3-8DCF-39A40089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4" name="debug-left-title">
            <a:extLst xmlns:a="http://schemas.openxmlformats.org/drawingml/2006/main">
              <a:ext uri="{FF2B5EF4-FFF2-40B4-BE49-F238E27FC236}">
                <a16:creationId xmlns:a16="http://schemas.microsoft.com/office/drawing/2014/main" id="{409B972B-12E6-4C7C-8419-3497C893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先确认配置</a:t>
            </a:r>
          </a:p>
        </p:txBody>
      </p:sp>
      <p:sp>
        <p:nvSpPr>
          <p:cNvPr id="5" name="debug-left-body">
            <a:extLst xmlns:a="http://schemas.openxmlformats.org/drawingml/2006/main">
              <a:ext uri="{FF2B5EF4-FFF2-40B4-BE49-F238E27FC236}">
                <a16:creationId xmlns:a16="http://schemas.microsoft.com/office/drawing/2014/main" id="{D3BF6717-C652-4191-BBA2-AC97E90D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1. 检查 plist 语法：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plutil -lint 文件.plist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2. 检查路径和权限：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用绝对路径，脚本要有执行权限</a:t>
            </a:r>
          </a:p>
        </p:txBody>
      </p:sp>
      <p:sp>
        <p:nvSpPr>
          <p:cNvPr id="6" name="debug-right-title">
            <a:extLst xmlns:a="http://schemas.openxmlformats.org/drawingml/2006/main">
              <a:ext uri="{FF2B5EF4-FFF2-40B4-BE49-F238E27FC236}">
                <a16:creationId xmlns:a16="http://schemas.microsoft.com/office/drawing/2014/main" id="{120D93BC-9A03-4DFE-83FD-FA5D9DF5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再看运行</a:t>
            </a:r>
          </a:p>
        </p:txBody>
      </p:sp>
      <p:sp>
        <p:nvSpPr>
          <p:cNvPr id="7" name="debug-right-body">
            <a:extLst xmlns:a="http://schemas.openxmlformats.org/drawingml/2006/main">
              <a:ext uri="{FF2B5EF4-FFF2-40B4-BE49-F238E27FC236}">
                <a16:creationId xmlns:a16="http://schemas.microsoft.com/office/drawing/2014/main" id="{C0078FA8-0710-40C3-9D76-D61D57EA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3. 看状态：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launchctl print gui/$(id -u)/标签</a:t>
            </a:r>
          </a:p>
          <a:p xmlns:a="http://schemas.openxmlformats.org/drawingml/2006/main">
            <a:pPr marL="22" indent="-12" algn="l">
              <a:lnSpc>
                <a:spcPct val="135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4. 强制重跑：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launchctl kickstart -k gui/$(id -u)/标签</a:t>
            </a:r>
          </a:p>
        </p:txBody>
      </p:sp>
      <p:sp>
        <p:nvSpPr>
          <p:cNvPr id="8" name="debug-tip-panel">
            <a:extLst xmlns:a="http://schemas.openxmlformats.org/drawingml/2006/main">
              <a:ext uri="{FF2B5EF4-FFF2-40B4-BE49-F238E27FC236}">
                <a16:creationId xmlns:a16="http://schemas.microsoft.com/office/drawing/2014/main" id="{ECC3067A-9D23-47A0-8BA5-84F3ACA2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debug-tip">
            <a:extLst xmlns:a="http://schemas.openxmlformats.org/drawingml/2006/main">
              <a:ext uri="{FF2B5EF4-FFF2-40B4-BE49-F238E27FC236}">
                <a16:creationId xmlns:a16="http://schemas.microsoft.com/office/drawing/2014/main" id="{327106DB-7412-48D5-BECD-1F7BAD33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F2B45"/>
                </a:solidFill>
                <a:latin typeface="PingFang SC"/>
                <a:ea typeface="PingFang SC"/>
                <a:cs typeface="PingFang SC"/>
              </a:rPr>
              <a:t>最有效的习惯：在 plist 里加 StandardOutPath / StandardErrorPath，出错时先看日志，而不是靠猜。</a:t>
            </a:r>
          </a:p>
        </p:txBody>
      </p:sp>
    </p:spTree>
    <p:extLst>
      <p:ext uri="{BB962C8B-B14F-4D97-AF65-F5344CB8AC3E}">
        <p14:creationId xmlns:p14="http://schemas.microsoft.com/office/powerpoint/2010/main" val="194817045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1C0BA5-3DA8-40AE-937C-BF78BDFA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少踩坑：权限、日志与 KeepAlive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BEADF13-31CA-4B0D-9859-182688C4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23">
            <a:extLst xmlns:a="http://schemas.openxmlformats.org/drawingml/2006/main">
              <a:ext uri="{FF2B5EF4-FFF2-40B4-BE49-F238E27FC236}">
                <a16:creationId xmlns:a16="http://schemas.microsoft.com/office/drawing/2014/main" id="{B02B3A85-B959-4549-B7AB-E6C2A1D5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4" name="pitfalls-left-title">
            <a:extLst xmlns:a="http://schemas.openxmlformats.org/drawingml/2006/main">
              <a:ext uri="{FF2B5EF4-FFF2-40B4-BE49-F238E27FC236}">
                <a16:creationId xmlns:a16="http://schemas.microsoft.com/office/drawing/2014/main" id="{6B020573-8495-4E3B-8264-2D8839E5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常见坑</a:t>
            </a:r>
          </a:p>
        </p:txBody>
      </p:sp>
      <p:sp>
        <p:nvSpPr>
          <p:cNvPr id="5" name="pitfalls-left-body">
            <a:extLst xmlns:a="http://schemas.openxmlformats.org/drawingml/2006/main">
              <a:ext uri="{FF2B5EF4-FFF2-40B4-BE49-F238E27FC236}">
                <a16:creationId xmlns:a16="http://schemas.microsoft.com/office/drawing/2014/main" id="{C4240E33-126D-4BEE-9B8D-6190FB12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路径写 ~：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plist 里可能不展开，用绝对路径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KeepAlive 配 true：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快速退出的脚本容易 crash loop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忽略日志：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失败后没有现场，排查靠猜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权限不当：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个人 Agent 文件应避免组/其他用户可写</a:t>
            </a:r>
          </a:p>
        </p:txBody>
      </p:sp>
      <p:sp>
        <p:nvSpPr>
          <p:cNvPr id="6" name="pitfalls-right-title">
            <a:extLst xmlns:a="http://schemas.openxmlformats.org/drawingml/2006/main">
              <a:ext uri="{FF2B5EF4-FFF2-40B4-BE49-F238E27FC236}">
                <a16:creationId xmlns:a16="http://schemas.microsoft.com/office/drawing/2014/main" id="{6F182597-07AD-4045-A0CA-18C40A36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建议</a:t>
            </a:r>
          </a:p>
        </p:txBody>
      </p:sp>
      <p:sp>
        <p:nvSpPr>
          <p:cNvPr id="7" name="pitfalls-right-body">
            <a:extLst xmlns:a="http://schemas.openxmlformats.org/drawingml/2006/main">
              <a:ext uri="{FF2B5EF4-FFF2-40B4-BE49-F238E27FC236}">
                <a16:creationId xmlns:a16="http://schemas.microsoft.com/office/drawing/2014/main" id="{49819294-FD5B-499D-8A12-22C1B338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5143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始终加日志：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StandardOutPath 和 StandardErrorPath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先校验：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plutil -lint 通过后再装载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条件要明确：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优先 RunAtLoad / StartInterval / Calendar</a:t>
            </a:r>
          </a:p>
          <a:p xmlns:a="http://schemas.openxmlformats.org/drawingml/2006/main">
            <a:pPr marL="22" indent="-12" algn="l">
              <a:lnSpc>
                <a:spcPct val="132000"/>
              </a:lnSpc>
              <a:spcAft>
                <a:spcPts val="12"/>
              </a:spcAft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用唯一 Label：</a:t>
            </a:r>
            <a:r>
              <a: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避免覆盖或混淆其他任务</a:t>
            </a:r>
          </a:p>
        </p:txBody>
      </p:sp>
    </p:spTree>
    <p:extLst>
      <p:ext uri="{BB962C8B-B14F-4D97-AF65-F5344CB8AC3E}">
        <p14:creationId xmlns:p14="http://schemas.microsoft.com/office/powerpoint/2010/main" val="5197843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F11B13-9407-4311-AE7D-CA1070A6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继续学习：官方文档与实用工具</a:t>
            </a:r>
          </a:p>
        </p:txBody>
      </p:sp>
      <p:sp>
        <p:nvSpPr>
          <p:cNvPr id="2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10C0D55-8E51-4B43-B195-0ABEF340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24">
            <a:extLst xmlns:a="http://schemas.openxmlformats.org/drawingml/2006/main">
              <a:ext uri="{FF2B5EF4-FFF2-40B4-BE49-F238E27FC236}">
                <a16:creationId xmlns:a16="http://schemas.microsoft.com/office/drawing/2014/main" id="{06ED128C-DB3E-4012-B131-07A77F46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24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9CA3AF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038600"/>
        </p:xfrm>
        <a:graphic xmlns:a="http://schemas.openxmlformats.org/drawingml/2006/main">
          <a:graphicData uri="http://schemas.openxmlformats.org/drawingml/2006/table">
            <a:tbl>
              <a:tblPr firstRow="1" firstCol="0" bandRow="0"/>
              <a:tblGrid>
                <a:gridCol w="3143250"/>
                <a:gridCol w="1809750"/>
                <a:gridCol w="6019800"/>
              </a:tblGrid>
              <a:tr h="495300"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资源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适合阶段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Apple Support: 使用 launchd 管理脚本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入门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目录与基本概念，有中文页面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Apple TN2083: Daemons and Agents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进阶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执行上下文、Agent/Daemon 常见坑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Apple: Daemons and Services Programming Guide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开发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登录项、XPC、守护进程与代理设计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launchd.info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配置参考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快速查 key、示例与自动加载规则</a:t>
                      </a:r>
                    </a:p>
                  </a:txBody>
                  <a:tcPr marL="91440" marR="91440" marT="45720" marB="45720" anchor="ctr">
                    <a:solidFill>
                      <a:srgbClr val="F7F7F7"/>
                    </a:solidFill>
                  </a:tcPr>
                </a:tc>
              </a:tr>
              <a:tr h="704850"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Lingon / LaunchControl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工具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57150" rIns="114300" bIns="57150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275">
                          <a:solidFill>
                            <a:srgbClr val="111111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 创建、管理和查看日志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sources-note">
            <a:extLst xmlns:a="http://schemas.openxmlformats.org/drawingml/2006/main">
              <a:ext uri="{FF2B5EF4-FFF2-40B4-BE49-F238E27FC236}">
                <a16:creationId xmlns:a16="http://schemas.microsoft.com/office/drawing/2014/main" id="{5043DD4B-F21E-4308-ABF7-E8BEE1DC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遇到具体问题，先查 man launchd.plist 和 man launchctl，再到 Apple Developer Forums 搜索。</a:t>
            </a:r>
          </a:p>
        </p:txBody>
      </p:sp>
    </p:spTree>
    <p:extLst>
      <p:ext uri="{BB962C8B-B14F-4D97-AF65-F5344CB8AC3E}">
        <p14:creationId xmlns:p14="http://schemas.microsoft.com/office/powerpoint/2010/main" val="53925595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9E0C932F-EC8F-4F14-B9B7-8C20A4CC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收尾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00A8628-4B2F-4A20-BD78-CF4268CD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下一次，先想想 launchd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9467F1F1-38A4-4AD2-8A05-8541A41B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body">
            <a:extLst xmlns:a="http://schemas.openxmlformats.org/drawingml/2006/main">
              <a:ext uri="{FF2B5EF4-FFF2-40B4-BE49-F238E27FC236}">
                <a16:creationId xmlns:a16="http://schemas.microsoft.com/office/drawing/2014/main" id="{717BA56F-0FDD-4B57-B915-3AC8328D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9048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6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会用 plist 描述任务：Label、命令、触发条件、日志。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6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会用 launchctl 管理：bootstrap、bootout、print、kickstart。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650" b="0">
                <a:solidFill>
                  <a:srgbClr val="4B5563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B5563"/>
                </a:solidFill>
                <a:latin typeface="PingFang SC"/>
                <a:ea typeface="PingFang SC"/>
                <a:cs typeface="PingFang SC"/>
              </a:rPr>
              <a:t>会排障：先 lint，再看状态与日志，最后强制重跑。</a:t>
            </a:r>
          </a:p>
        </p:txBody>
      </p:sp>
      <p:sp>
        <p:nvSpPr>
          <p:cNvPr id="5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29FBAB0B-44CE-426E-A94B-80A98EA6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行动：选一个你常手动执行的重复动作，今天就用 LaunchAgent 跑通它。</a:t>
            </a:r>
          </a:p>
        </p:txBody>
      </p:sp>
    </p:spTree>
    <p:extLst>
      <p:ext uri="{BB962C8B-B14F-4D97-AF65-F5344CB8AC3E}">
        <p14:creationId xmlns:p14="http://schemas.microsoft.com/office/powerpoint/2010/main" val="1723852463"/>
      </p:ext>
    </p:extLst>
  </p:cSld>
</p:sld>
</file>

<file path=ppt/theme/theme1.xml><?xml version="1.0" encoding="utf-8"?>
<a:theme xmlns:a="http://schemas.openxmlformats.org/drawingml/2006/main" name="ChatGPT">
  <a:themeElements>
    <a:clrScheme name="LaunchAgents Share">
      <a:dk1>
        <a:srgbClr val="000000"/>
      </a:dk1>
      <a:lt1>
        <a:srgbClr val="FFFFFF"/>
      </a:lt1>
      <a:dk2>
        <a:srgbClr val="111111"/>
      </a:dk2>
      <a:lt2>
        <a:srgbClr val="E5E7EB"/>
      </a:lt2>
      <a:accent1>
        <a:srgbClr val="3D8DFF"/>
      </a:accent1>
      <a:accent2>
        <a:srgbClr val="EAF5FB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D8DFF"/>
      </a:hlink>
      <a:folHlink>
        <a:srgbClr val="3D8DF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aunchAgents Shar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2026-09-01T15:28:04.0320000Z</dcterms:created>
  <dcterms:modified xsi:type="dcterms:W3CDTF">2026-09-01T15:28:04.0320000Z</dcterms:modified>
</coreProperties>
</file>